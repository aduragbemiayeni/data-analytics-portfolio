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notesMasterIdLst>
    <p:notesMasterId r:id="rId11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00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C1B83-A0F3-4CF9-AA96-DE0CF92E72AF}" type="datetimeFigureOut">
              <a:rPr lang="en-GB" smtClean="0"/>
              <a:t>04/08/2024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B465-A3A1-40FE-8C08-AE6201BA9E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416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DB465-A3A1-40FE-8C08-AE6201BA9E2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DB465-A3A1-40FE-8C08-AE6201BA9E2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4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2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6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98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671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08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2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94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13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24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2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6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8/4/2024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8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0A7E8C1-C94C-2023-9143-01B16A21D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58B33-1F8C-68CE-5F5A-24032BC10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853" y="647273"/>
            <a:ext cx="7993293" cy="2681554"/>
          </a:xfrm>
        </p:spPr>
        <p:txBody>
          <a:bodyPr>
            <a:noAutofit/>
          </a:bodyPr>
          <a:lstStyle/>
          <a:p>
            <a: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  <a:t>Insight Presentation on</a:t>
            </a:r>
            <a:b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  <a:t>(Lost Mileage, Absence and Punctuality)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D304B-606C-0AA0-2B55-1AC58C421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772" y="5174630"/>
            <a:ext cx="5767227" cy="1418770"/>
          </a:xfrm>
        </p:spPr>
        <p:txBody>
          <a:bodyPr>
            <a:normAutofit/>
          </a:bodyPr>
          <a:lstStyle/>
          <a:p>
            <a:r>
              <a:rPr lang="en-GB" b="1"/>
              <a:t>Presented by Aduragbemi (Michael) Ayeni</a:t>
            </a:r>
            <a:br>
              <a:rPr lang="en-GB"/>
            </a:br>
            <a:r>
              <a:rPr lang="en-GB"/>
              <a:t>on 5</a:t>
            </a:r>
            <a:r>
              <a:rPr lang="en-GB" baseline="30000"/>
              <a:t>th</a:t>
            </a:r>
            <a:r>
              <a:rPr lang="en-GB"/>
              <a:t> of August 2024</a:t>
            </a:r>
            <a:endParaRPr lang="en-GB" dirty="0"/>
          </a:p>
        </p:txBody>
      </p:sp>
      <p:pic>
        <p:nvPicPr>
          <p:cNvPr id="9" name="Picture 8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94224624-B34A-15D0-16ED-AC1167DD2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195" y="1849966"/>
            <a:ext cx="4663908" cy="258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290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4A55D-F708-8F27-8CDC-D592DBBBF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969B3-9AD9-1368-A21C-E8DF5CEC1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39696"/>
            <a:ext cx="5998772" cy="2827795"/>
          </a:xfrm>
        </p:spPr>
        <p:txBody>
          <a:bodyPr/>
          <a:lstStyle/>
          <a:p>
            <a:r>
              <a:rPr lang="en-GB" dirty="0">
                <a:latin typeface="Aptos" panose="020B0004020202020204" pitchFamily="34" charset="0"/>
              </a:rPr>
              <a:t>First Bus is a Ground Passenger Transportation Organisation.</a:t>
            </a:r>
            <a:br>
              <a:rPr lang="en-GB" dirty="0">
                <a:latin typeface="Aptos" panose="020B0004020202020204" pitchFamily="34" charset="0"/>
              </a:rPr>
            </a:br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Head Quarter in Aberdeen, Scotland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First Bus is a division of First Group</a:t>
            </a:r>
          </a:p>
        </p:txBody>
      </p:sp>
      <p:pic>
        <p:nvPicPr>
          <p:cNvPr id="4" name="Picture 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38A223FC-DFD5-7A47-CA1D-C3F7656A71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27" t="25582" r="35113" b="23790"/>
          <a:stretch/>
        </p:blipFill>
        <p:spPr>
          <a:xfrm>
            <a:off x="9953684" y="810106"/>
            <a:ext cx="1313571" cy="13295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1070C6-3AB4-101E-4F81-EEB7B5245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126" y="3215812"/>
            <a:ext cx="6058098" cy="29534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27DC5E-B782-3193-4C42-34F4AA42BAD7}"/>
              </a:ext>
            </a:extLst>
          </p:cNvPr>
          <p:cNvSpPr txBox="1"/>
          <p:nvPr/>
        </p:nvSpPr>
        <p:spPr>
          <a:xfrm>
            <a:off x="5997126" y="2629554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What we stand for</a:t>
            </a:r>
          </a:p>
        </p:txBody>
      </p:sp>
    </p:spTree>
    <p:extLst>
      <p:ext uri="{BB962C8B-B14F-4D97-AF65-F5344CB8AC3E}">
        <p14:creationId xmlns:p14="http://schemas.microsoft.com/office/powerpoint/2010/main" val="488092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325EF-FD1C-632C-8498-501396E9A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09" y="380145"/>
            <a:ext cx="8886884" cy="655718"/>
          </a:xfrm>
        </p:spPr>
        <p:txBody>
          <a:bodyPr>
            <a:normAutofit/>
          </a:bodyPr>
          <a:lstStyle/>
          <a:p>
            <a:r>
              <a:rPr lang="en-GB" dirty="0"/>
              <a:t>Business Intelligence(BI) tools used</a:t>
            </a:r>
          </a:p>
        </p:txBody>
      </p:sp>
      <p:pic>
        <p:nvPicPr>
          <p:cNvPr id="4" name="Picture 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D99DC7F1-2504-E3B2-E59F-B316032F3C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27" t="25582" r="35113" b="23790"/>
          <a:stretch/>
        </p:blipFill>
        <p:spPr>
          <a:xfrm>
            <a:off x="10169443" y="142286"/>
            <a:ext cx="1168468" cy="13295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2BB2E-D3F1-56BF-F248-593734E78E0A}"/>
              </a:ext>
            </a:extLst>
          </p:cNvPr>
          <p:cNvSpPr txBox="1"/>
          <p:nvPr/>
        </p:nvSpPr>
        <p:spPr>
          <a:xfrm>
            <a:off x="195209" y="606175"/>
            <a:ext cx="76336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3200" dirty="0">
              <a:latin typeface="Aptos" panose="020B0004020202020204" pitchFamily="34" charset="0"/>
            </a:endParaRPr>
          </a:p>
          <a:p>
            <a:r>
              <a:rPr lang="en-GB" sz="3200" dirty="0">
                <a:latin typeface="Aptos" panose="020B0004020202020204" pitchFamily="34" charset="0"/>
              </a:rPr>
              <a:t>- Power BI</a:t>
            </a:r>
            <a:br>
              <a:rPr lang="en-GB" sz="3200" dirty="0">
                <a:latin typeface="Aptos" panose="020B0004020202020204" pitchFamily="34" charset="0"/>
              </a:rPr>
            </a:br>
            <a:br>
              <a:rPr lang="en-GB" sz="3200" dirty="0">
                <a:latin typeface="Aptos" panose="020B0004020202020204" pitchFamily="34" charset="0"/>
              </a:rPr>
            </a:br>
            <a:r>
              <a:rPr lang="en-GB" sz="3200" dirty="0">
                <a:latin typeface="Aptos" panose="020B0004020202020204" pitchFamily="34" charset="0"/>
              </a:rPr>
              <a:t>- Advanced EXCEL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4243170-BC83-5A24-ABF9-7B06C9EC176D}"/>
              </a:ext>
            </a:extLst>
          </p:cNvPr>
          <p:cNvSpPr txBox="1">
            <a:spLocks/>
          </p:cNvSpPr>
          <p:nvPr/>
        </p:nvSpPr>
        <p:spPr>
          <a:xfrm>
            <a:off x="123290" y="2979244"/>
            <a:ext cx="8886884" cy="6557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Steps Taken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74187-E534-7610-A38B-CBE8EA77BDA0}"/>
              </a:ext>
            </a:extLst>
          </p:cNvPr>
          <p:cNvSpPr txBox="1"/>
          <p:nvPr/>
        </p:nvSpPr>
        <p:spPr>
          <a:xfrm>
            <a:off x="123290" y="3307103"/>
            <a:ext cx="6400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3200" dirty="0">
              <a:latin typeface="Aptos" panose="020B0004020202020204" pitchFamily="34" charset="0"/>
            </a:endParaRPr>
          </a:p>
          <a:p>
            <a:r>
              <a:rPr lang="en-GB" sz="2400" dirty="0">
                <a:latin typeface="Aptos" panose="020B0004020202020204" pitchFamily="34" charset="0"/>
              </a:rPr>
              <a:t>- Data Cleaning and Preparation </a:t>
            </a:r>
            <a:br>
              <a:rPr lang="en-GB" sz="2400" dirty="0">
                <a:latin typeface="Aptos" panose="020B0004020202020204" pitchFamily="34" charset="0"/>
              </a:rPr>
            </a:br>
            <a:r>
              <a:rPr lang="en-GB" sz="2400" dirty="0">
                <a:latin typeface="Aptos" panose="020B0004020202020204" pitchFamily="34" charset="0"/>
              </a:rPr>
              <a:t>- ETL process(Extract, Transform and Load</a:t>
            </a:r>
            <a:br>
              <a:rPr lang="en-GB" sz="2400" dirty="0">
                <a:latin typeface="Aptos" panose="020B0004020202020204" pitchFamily="34" charset="0"/>
              </a:rPr>
            </a:br>
            <a:r>
              <a:rPr lang="en-GB" sz="2400" dirty="0">
                <a:latin typeface="Aptos" panose="020B0004020202020204" pitchFamily="34" charset="0"/>
              </a:rPr>
              <a:t>- Performed Power query operations</a:t>
            </a:r>
            <a:br>
              <a:rPr lang="en-GB" sz="2400" dirty="0">
                <a:latin typeface="Aptos" panose="020B0004020202020204" pitchFamily="34" charset="0"/>
              </a:rPr>
            </a:br>
            <a:r>
              <a:rPr lang="en-GB" sz="2400" dirty="0">
                <a:latin typeface="Aptos" panose="020B0004020202020204" pitchFamily="34" charset="0"/>
              </a:rPr>
              <a:t>-  Wrote DAX to ascertain specific measures</a:t>
            </a:r>
            <a:br>
              <a:rPr lang="en-GB" sz="2400" dirty="0">
                <a:latin typeface="Aptos" panose="020B0004020202020204" pitchFamily="34" charset="0"/>
              </a:rPr>
            </a:br>
            <a:r>
              <a:rPr lang="en-GB" sz="2400" dirty="0">
                <a:latin typeface="Aptos" panose="020B0004020202020204" pitchFamily="34" charset="0"/>
              </a:rPr>
              <a:t>-Performed data accuracy check</a:t>
            </a:r>
            <a:br>
              <a:rPr lang="en-GB" sz="2400" dirty="0">
                <a:latin typeface="Aptos" panose="020B0004020202020204" pitchFamily="34" charset="0"/>
              </a:rPr>
            </a:br>
            <a:r>
              <a:rPr lang="en-GB" sz="2400" dirty="0">
                <a:latin typeface="Aptos" panose="020B0004020202020204" pitchFamily="34" charset="0"/>
              </a:rPr>
              <a:t>- Data Visualization </a:t>
            </a:r>
            <a:br>
              <a:rPr lang="en-GB" sz="2400" dirty="0">
                <a:latin typeface="Aptos" panose="020B0004020202020204" pitchFamily="34" charset="0"/>
              </a:rPr>
            </a:br>
            <a:r>
              <a:rPr lang="en-GB" sz="2400" dirty="0">
                <a:latin typeface="Aptos" panose="020B0004020202020204" pitchFamily="34" charset="0"/>
              </a:rPr>
              <a:t>- Report Presentation.</a:t>
            </a:r>
            <a:br>
              <a:rPr lang="en-GB" sz="3200" dirty="0">
                <a:latin typeface="Aptos" panose="020B0004020202020204" pitchFamily="34" charset="0"/>
              </a:rPr>
            </a:br>
            <a:br>
              <a:rPr lang="en-GB" sz="3200" dirty="0">
                <a:latin typeface="Aptos" panose="020B0004020202020204" pitchFamily="34" charset="0"/>
              </a:rPr>
            </a:br>
            <a:endParaRPr lang="en-GB" sz="3200" dirty="0">
              <a:latin typeface="Aptos" panose="020B0004020202020204" pitchFamily="34" charset="0"/>
            </a:endParaRPr>
          </a:p>
        </p:txBody>
      </p:sp>
      <p:pic>
        <p:nvPicPr>
          <p:cNvPr id="9" name="Picture 8" descr="A logo with a bar chart&#10;&#10;Description automatically generated with medium confidence">
            <a:extLst>
              <a:ext uri="{FF2B5EF4-FFF2-40B4-BE49-F238E27FC236}">
                <a16:creationId xmlns:a16="http://schemas.microsoft.com/office/drawing/2014/main" id="{F3C6D673-252C-CBFF-4BED-223D7EC00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785" y="893052"/>
            <a:ext cx="2005716" cy="1976111"/>
          </a:xfrm>
          <a:prstGeom prst="rect">
            <a:avLst/>
          </a:prstGeom>
        </p:spPr>
      </p:pic>
      <p:pic>
        <p:nvPicPr>
          <p:cNvPr id="11" name="Picture 10" descr="A green square with a white x on it&#10;&#10;Description automatically generated">
            <a:extLst>
              <a:ext uri="{FF2B5EF4-FFF2-40B4-BE49-F238E27FC236}">
                <a16:creationId xmlns:a16="http://schemas.microsoft.com/office/drawing/2014/main" id="{3F9E99E6-375A-2417-4BD3-B550B969CB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654" y="2016921"/>
            <a:ext cx="1671131" cy="118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07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159A3F-33E2-5EC0-6B8D-CA2C7E425374}"/>
              </a:ext>
            </a:extLst>
          </p:cNvPr>
          <p:cNvSpPr txBox="1">
            <a:spLocks/>
          </p:cNvSpPr>
          <p:nvPr/>
        </p:nvSpPr>
        <p:spPr>
          <a:xfrm>
            <a:off x="0" y="91660"/>
            <a:ext cx="5765515" cy="58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Lost Mileage - Overview</a:t>
            </a:r>
          </a:p>
        </p:txBody>
      </p:sp>
      <p:pic>
        <p:nvPicPr>
          <p:cNvPr id="6" name="Picture 5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E6A0A37D-7405-6947-CDD2-EBB66BF153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27" t="25582" r="35113" b="23790"/>
          <a:stretch/>
        </p:blipFill>
        <p:spPr>
          <a:xfrm>
            <a:off x="10472855" y="91660"/>
            <a:ext cx="1313571" cy="13295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63608F-ED8E-3B42-63AE-D4AF49E21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372"/>
            <a:ext cx="8658892" cy="49590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D4C83E-0387-295A-16EB-5D6C083CFD8A}"/>
              </a:ext>
            </a:extLst>
          </p:cNvPr>
          <p:cNvSpPr txBox="1"/>
          <p:nvPr/>
        </p:nvSpPr>
        <p:spPr>
          <a:xfrm>
            <a:off x="9243317" y="3429000"/>
            <a:ext cx="2948683" cy="324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Insight </a:t>
            </a:r>
            <a:b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The total lost mileage shows an increasing trend towards the end of the year, peaking in November and December.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A steady increase is noticeable from September onwards.</a:t>
            </a:r>
          </a:p>
          <a:p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0E88D4-C121-EC22-9E5E-B542913DF1DB}"/>
              </a:ext>
            </a:extLst>
          </p:cNvPr>
          <p:cNvSpPr txBox="1"/>
          <p:nvPr/>
        </p:nvSpPr>
        <p:spPr>
          <a:xfrm>
            <a:off x="9121801" y="1421250"/>
            <a:ext cx="29486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Lost mileage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is a term that we use in the bus industry to explain where we haven't run routes, or part of routes that were planned. 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291AB8A-616B-8194-7925-93A0716BBB01}"/>
              </a:ext>
            </a:extLst>
          </p:cNvPr>
          <p:cNvCxnSpPr/>
          <p:nvPr/>
        </p:nvCxnSpPr>
        <p:spPr>
          <a:xfrm>
            <a:off x="8763856" y="4869951"/>
            <a:ext cx="47946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51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EF998BD3-D74F-9774-28C7-FEAA5DF56F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27" t="25582" r="35113" b="23790"/>
          <a:stretch/>
        </p:blipFill>
        <p:spPr>
          <a:xfrm>
            <a:off x="10468414" y="173853"/>
            <a:ext cx="1313571" cy="132959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5F1049F-1496-628C-EC53-E460F3BD8174}"/>
              </a:ext>
            </a:extLst>
          </p:cNvPr>
          <p:cNvSpPr txBox="1">
            <a:spLocks/>
          </p:cNvSpPr>
          <p:nvPr/>
        </p:nvSpPr>
        <p:spPr>
          <a:xfrm>
            <a:off x="0" y="91660"/>
            <a:ext cx="5765515" cy="58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Lost Mileage – Contd.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60877-489F-99AC-6FA7-846610AA1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30" y="967994"/>
            <a:ext cx="4833466" cy="13295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D9C519-88A4-D6EB-536A-E1350C866E69}"/>
              </a:ext>
            </a:extLst>
          </p:cNvPr>
          <p:cNvSpPr txBox="1"/>
          <p:nvPr/>
        </p:nvSpPr>
        <p:spPr>
          <a:xfrm>
            <a:off x="103330" y="608936"/>
            <a:ext cx="131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E2007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Driver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CFD6C0-2079-8CB0-2902-C0FA22F50AAF}"/>
              </a:ext>
            </a:extLst>
          </p:cNvPr>
          <p:cNvSpPr txBox="1"/>
          <p:nvPr/>
        </p:nvSpPr>
        <p:spPr>
          <a:xfrm>
            <a:off x="103330" y="2334886"/>
            <a:ext cx="4833466" cy="1924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b="1" kern="100" dirty="0">
                <a:solidFill>
                  <a:srgbClr val="E2007E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Insight</a:t>
            </a:r>
            <a:b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Remains relatively stable with minor fluctuations.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noticeable peak in December indicates potential seasonal impacts or specific events affecting driver performance.</a:t>
            </a:r>
          </a:p>
          <a:p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236085-EB6B-6BA0-F45B-060E0FBC87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015"/>
          <a:stretch/>
        </p:blipFill>
        <p:spPr>
          <a:xfrm>
            <a:off x="5285872" y="1006871"/>
            <a:ext cx="4638964" cy="12496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DED330-D670-EFA7-6EB1-8CC862A1B429}"/>
              </a:ext>
            </a:extLst>
          </p:cNvPr>
          <p:cNvSpPr txBox="1"/>
          <p:nvPr/>
        </p:nvSpPr>
        <p:spPr>
          <a:xfrm>
            <a:off x="5285871" y="2294800"/>
            <a:ext cx="5372795" cy="1924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b="1" kern="100" dirty="0">
                <a:solidFill>
                  <a:srgbClr val="E2007E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Insight</a:t>
            </a:r>
            <a:b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Shows a clear upward trend, especially in the last quarter.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significant rise in November and December highlights worsening traffic conditions or increased congestion during these months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6CD364-38D9-62DB-9846-68203BD29764}"/>
              </a:ext>
            </a:extLst>
          </p:cNvPr>
          <p:cNvSpPr txBox="1"/>
          <p:nvPr/>
        </p:nvSpPr>
        <p:spPr>
          <a:xfrm>
            <a:off x="5285872" y="636674"/>
            <a:ext cx="131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E2007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Traffic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A918D3-9FB0-19CE-2625-AACEECF705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30" y="4383266"/>
            <a:ext cx="4833466" cy="12136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ADD951F-3660-830A-A17A-C3A512DBD056}"/>
              </a:ext>
            </a:extLst>
          </p:cNvPr>
          <p:cNvSpPr txBox="1"/>
          <p:nvPr/>
        </p:nvSpPr>
        <p:spPr>
          <a:xfrm>
            <a:off x="103330" y="4338448"/>
            <a:ext cx="131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E2007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441E59-5BDB-6BC6-2C8A-8E197E0C5A56}"/>
              </a:ext>
            </a:extLst>
          </p:cNvPr>
          <p:cNvSpPr txBox="1"/>
          <p:nvPr/>
        </p:nvSpPr>
        <p:spPr>
          <a:xfrm>
            <a:off x="0" y="5703386"/>
            <a:ext cx="5372796" cy="1214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b="1" kern="100" dirty="0">
                <a:solidFill>
                  <a:srgbClr val="E2007E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Insight</a:t>
            </a: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:Generally stable throughout the year but with a noticeable increase in December.</a:t>
            </a:r>
          </a:p>
          <a:p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Indicates potential maintenance or operational issues surfacing towards the year's end</a:t>
            </a:r>
            <a:endParaRPr lang="en-GB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E59B08E-ED87-FA52-C6EB-E214E44A08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872" y="4481172"/>
            <a:ext cx="5438037" cy="11465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34E0481-A56E-23D2-2DE5-3922BF2D7675}"/>
              </a:ext>
            </a:extLst>
          </p:cNvPr>
          <p:cNvSpPr txBox="1"/>
          <p:nvPr/>
        </p:nvSpPr>
        <p:spPr>
          <a:xfrm>
            <a:off x="5285871" y="5703386"/>
            <a:ext cx="5789670" cy="1597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b="1" dirty="0">
                <a:solidFill>
                  <a:srgbClr val="E2007E"/>
                </a:solidFill>
              </a:rPr>
              <a:t>Insight: </a:t>
            </a: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Gradual increase over the months with significant peaks in November and December.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suggests accumulating minor issues or new emerging factors that need addressing</a:t>
            </a:r>
          </a:p>
          <a:p>
            <a:endParaRPr lang="en-GB" sz="1600" b="1" dirty="0">
              <a:solidFill>
                <a:srgbClr val="E2007E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C7629C-27A5-FE5A-05DB-46199550957D}"/>
              </a:ext>
            </a:extLst>
          </p:cNvPr>
          <p:cNvSpPr txBox="1"/>
          <p:nvPr/>
        </p:nvSpPr>
        <p:spPr>
          <a:xfrm>
            <a:off x="5526374" y="4274233"/>
            <a:ext cx="131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E2007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</a:t>
            </a:r>
          </a:p>
        </p:txBody>
      </p:sp>
    </p:spTree>
    <p:extLst>
      <p:ext uri="{BB962C8B-B14F-4D97-AF65-F5344CB8AC3E}">
        <p14:creationId xmlns:p14="http://schemas.microsoft.com/office/powerpoint/2010/main" val="3396339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39506-0F7D-3DB6-5420-5D22C5EF6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3631" y="-43710"/>
            <a:ext cx="8886884" cy="563251"/>
          </a:xfrm>
        </p:spPr>
        <p:txBody>
          <a:bodyPr/>
          <a:lstStyle/>
          <a:p>
            <a:r>
              <a:rPr lang="en-GB" dirty="0"/>
              <a:t>Absence -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E416C0-DF12-80C6-767C-FA0307724763}"/>
              </a:ext>
            </a:extLst>
          </p:cNvPr>
          <p:cNvSpPr txBox="1"/>
          <p:nvPr/>
        </p:nvSpPr>
        <p:spPr>
          <a:xfrm>
            <a:off x="9380307" y="152285"/>
            <a:ext cx="2811694" cy="6936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kern="100" dirty="0">
                <a:solidFill>
                  <a:srgbClr val="E2007E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Insight:</a:t>
            </a:r>
            <a:b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Long Term absences are consistently higher than Short Term absences across all depots.</a:t>
            </a:r>
            <a:b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b="1" dirty="0">
                <a:latin typeface="Aptos" panose="020B0004020202020204" pitchFamily="34" charset="0"/>
              </a:rPr>
              <a:t>Bramley</a:t>
            </a:r>
            <a:r>
              <a:rPr lang="en-GB" sz="1600" dirty="0">
                <a:latin typeface="Aptos" panose="020B0004020202020204" pitchFamily="34" charset="0"/>
              </a:rPr>
              <a:t>: Should investigate and address the reasons behind high Long-Term absences.</a:t>
            </a:r>
            <a:b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Huddersfield</a:t>
            </a: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Both Short Term and Long-Term absences increase towards the year-end, needing proactive measures.</a:t>
            </a:r>
          </a:p>
          <a:p>
            <a:r>
              <a:rPr lang="en-GB" sz="16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Hunslet</a:t>
            </a:r>
            <a: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Faces high Long-Term absences throughout the year, requiring immediate attention.</a:t>
            </a:r>
            <a:b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GB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b="1" dirty="0">
                <a:latin typeface="Aptos" panose="020B0004020202020204" pitchFamily="34" charset="0"/>
              </a:rPr>
              <a:t>Halifax</a:t>
            </a:r>
            <a:r>
              <a:rPr lang="en-GB" sz="1600" dirty="0">
                <a:latin typeface="Aptos" panose="020B0004020202020204" pitchFamily="34" charset="0"/>
              </a:rPr>
              <a:t>: Shows a balanced pattern but with notable Long-Term absences that peak in mid-year.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356FD7-456D-48B5-CB2C-AF3FB66F3602}"/>
              </a:ext>
            </a:extLst>
          </p:cNvPr>
          <p:cNvSpPr txBox="1"/>
          <p:nvPr/>
        </p:nvSpPr>
        <p:spPr>
          <a:xfrm>
            <a:off x="156468" y="5536957"/>
            <a:ext cx="86567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Aptos" panose="020B0004020202020204" pitchFamily="34" charset="0"/>
              </a:rPr>
              <a:t>Bradford: </a:t>
            </a:r>
            <a:r>
              <a:rPr lang="en-GB" sz="1600" dirty="0">
                <a:latin typeface="Aptos" panose="020B0004020202020204" pitchFamily="34" charset="0"/>
              </a:rPr>
              <a:t>Needs to address both Short Term and Long-Term absences, particularly focusing on Long Term issues which are significantly high.</a:t>
            </a:r>
            <a:br>
              <a:rPr lang="en-GB" sz="1600" dirty="0">
                <a:latin typeface="Aptos" panose="020B0004020202020204" pitchFamily="34" charset="0"/>
              </a:rPr>
            </a:br>
            <a:r>
              <a:rPr lang="en-GB" sz="1600" b="1" dirty="0">
                <a:latin typeface="Aptos" panose="020B0004020202020204" pitchFamily="34" charset="0"/>
              </a:rPr>
              <a:t>York: </a:t>
            </a:r>
            <a:r>
              <a:rPr lang="en-GB" sz="1600" dirty="0">
                <a:latin typeface="Aptos" panose="020B0004020202020204" pitchFamily="34" charset="0"/>
              </a:rPr>
              <a:t>Has relatively lower averages but still needs to manage Long Term absences efficiently.</a:t>
            </a:r>
            <a:br>
              <a:rPr lang="en-GB" sz="1600" dirty="0">
                <a:latin typeface="Aptos" panose="020B0004020202020204" pitchFamily="34" charset="0"/>
              </a:rPr>
            </a:br>
            <a:br>
              <a:rPr lang="en-GB" dirty="0">
                <a:latin typeface="Aptos" panose="020B0004020202020204" pitchFamily="34" charset="0"/>
              </a:rPr>
            </a:br>
            <a:br>
              <a:rPr lang="en-GB" dirty="0">
                <a:latin typeface="Aptos" panose="020B0004020202020204" pitchFamily="34" charset="0"/>
              </a:rPr>
            </a:br>
            <a:br>
              <a:rPr lang="en-GB" dirty="0">
                <a:latin typeface="Aptos" panose="020B0004020202020204" pitchFamily="34" charset="0"/>
              </a:rPr>
            </a:br>
            <a:endParaRPr lang="en-GB" dirty="0">
              <a:latin typeface="Aptos" panose="020B00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2E2254-82FB-9240-49C1-2B32CB436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69" y="493372"/>
            <a:ext cx="9141644" cy="506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1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655F-FCEB-A556-AFD6-161459F2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1" y="86952"/>
            <a:ext cx="8886884" cy="642513"/>
          </a:xfrm>
        </p:spPr>
        <p:txBody>
          <a:bodyPr/>
          <a:lstStyle/>
          <a:p>
            <a:r>
              <a:rPr lang="en-GB" dirty="0"/>
              <a:t>Punctuality -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DD6F0-8F17-7A70-BA9D-34B39BA1677F}"/>
              </a:ext>
            </a:extLst>
          </p:cNvPr>
          <p:cNvSpPr txBox="1"/>
          <p:nvPr/>
        </p:nvSpPr>
        <p:spPr>
          <a:xfrm>
            <a:off x="8967365" y="318499"/>
            <a:ext cx="335135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ptos" panose="020B0004020202020204" pitchFamily="34" charset="0"/>
              </a:rPr>
              <a:t>Start time punctuality refers to a bus starting its route at the place of origin on time. Timing point punctuality looks at bus on time performance at specific points on a route according to the plan.</a:t>
            </a:r>
            <a:br>
              <a:rPr lang="en-GB" sz="1600" dirty="0">
                <a:latin typeface="Aptos" panose="020B0004020202020204" pitchFamily="34" charset="0"/>
              </a:rPr>
            </a:br>
            <a:br>
              <a:rPr lang="en-GB" sz="1600" dirty="0">
                <a:latin typeface="Aptos" panose="020B0004020202020204" pitchFamily="34" charset="0"/>
              </a:rPr>
            </a:br>
            <a:r>
              <a:rPr lang="en-GB" sz="1600" dirty="0">
                <a:latin typeface="Aptos" panose="020B0004020202020204" pitchFamily="34" charset="0"/>
              </a:rPr>
              <a:t>August 2023 appears to be a peak month for punctuality across most depots.</a:t>
            </a:r>
          </a:p>
          <a:p>
            <a:r>
              <a:rPr lang="en-GB" sz="1600" b="1" dirty="0">
                <a:latin typeface="Aptos" panose="020B0004020202020204" pitchFamily="34" charset="0"/>
              </a:rPr>
              <a:t>York</a:t>
            </a:r>
            <a:r>
              <a:rPr lang="en-GB" sz="1600" dirty="0">
                <a:latin typeface="Aptos" panose="020B0004020202020204" pitchFamily="34" charset="0"/>
              </a:rPr>
              <a:t> consistently shows the highest punctuality rates for both start times and timing points.</a:t>
            </a:r>
          </a:p>
          <a:p>
            <a:r>
              <a:rPr lang="en-GB" sz="1600" b="1" dirty="0">
                <a:latin typeface="Aptos" panose="020B0004020202020204" pitchFamily="34" charset="0"/>
              </a:rPr>
              <a:t>Bradford</a:t>
            </a:r>
            <a:r>
              <a:rPr lang="en-GB" sz="1600" dirty="0">
                <a:latin typeface="Aptos" panose="020B0004020202020204" pitchFamily="34" charset="0"/>
              </a:rPr>
              <a:t> and </a:t>
            </a:r>
            <a:r>
              <a:rPr lang="en-GB" sz="1600" b="1" dirty="0">
                <a:latin typeface="Aptos" panose="020B0004020202020204" pitchFamily="34" charset="0"/>
              </a:rPr>
              <a:t>Halifax</a:t>
            </a:r>
            <a:r>
              <a:rPr lang="en-GB" sz="1600" dirty="0">
                <a:latin typeface="Aptos" panose="020B0004020202020204" pitchFamily="34" charset="0"/>
              </a:rPr>
              <a:t> show a noticeable decline in punctuality towards the end of the year, especially in timing points.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FABDAB-DD1D-2B91-3E52-7EB0EE2F2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96" y="961012"/>
            <a:ext cx="8767066" cy="47000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287CF9-FEDA-67EF-DA82-8CF6000B8506}"/>
              </a:ext>
            </a:extLst>
          </p:cNvPr>
          <p:cNvSpPr txBox="1"/>
          <p:nvPr/>
        </p:nvSpPr>
        <p:spPr>
          <a:xfrm>
            <a:off x="9092629" y="5116530"/>
            <a:ext cx="28870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KPI Measure added as a benchmark to determine Clear satisfaction with start point  timing point punctuality</a:t>
            </a:r>
          </a:p>
        </p:txBody>
      </p:sp>
    </p:spTree>
    <p:extLst>
      <p:ext uri="{BB962C8B-B14F-4D97-AF65-F5344CB8AC3E}">
        <p14:creationId xmlns:p14="http://schemas.microsoft.com/office/powerpoint/2010/main" val="478171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AD3D-C213-152C-235E-EAA47E77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Insight Recommendation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06941-71AE-9B80-4C45-98C2A3F51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075380"/>
            <a:ext cx="8883836" cy="3426367"/>
          </a:xfrm>
        </p:spPr>
        <p:txBody>
          <a:bodyPr>
            <a:normAutofit/>
          </a:bodyPr>
          <a:lstStyle/>
          <a:p>
            <a:r>
              <a:rPr lang="en-GB" sz="1600">
                <a:latin typeface="Aptos" panose="020B0004020202020204" pitchFamily="34" charset="0"/>
              </a:rPr>
              <a:t>I recommend we dive into other ground passenger transport company comparing our current position with others to see how we stand within the bus industry. Open-source data are available on </a:t>
            </a:r>
            <a:r>
              <a:rPr lang="en-GB" sz="1600" b="1" i="0">
                <a:solidFill>
                  <a:srgbClr val="0B0C0C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Statistics at DfT and Office for National Statistics (ONS) Geoportal.</a:t>
            </a:r>
          </a:p>
          <a:p>
            <a:r>
              <a:rPr lang="en-GB" sz="1600">
                <a:solidFill>
                  <a:srgbClr val="0B0C0C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Further analysis needs to be carried out on ‘Other’ reason adding to the lost milage factor.</a:t>
            </a:r>
          </a:p>
          <a:p>
            <a:r>
              <a:rPr lang="en-GB" sz="1600" i="0">
                <a:solidFill>
                  <a:srgbClr val="0B0C0C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Separate data pipeline</a:t>
            </a:r>
            <a:r>
              <a:rPr lang="en-GB" sz="1600">
                <a:solidFill>
                  <a:srgbClr val="0B0C0C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 needs to be developed to fully understand activities toward the end of the year.</a:t>
            </a:r>
          </a:p>
          <a:p>
            <a:r>
              <a:rPr lang="en-GB" sz="1600">
                <a:solidFill>
                  <a:srgbClr val="0B0C0C"/>
                </a:solidFill>
                <a:highlight>
                  <a:srgbClr val="FFFFFF"/>
                </a:highlight>
                <a:latin typeface="Aptos" panose="020B0004020202020204" pitchFamily="34" charset="0"/>
              </a:rPr>
              <a:t>Predictive analysis is recommended once stakeholder set KPI and benchmarks, especially in Punctuality.</a:t>
            </a:r>
          </a:p>
          <a:p>
            <a:endParaRPr lang="en-GB" sz="1600">
              <a:solidFill>
                <a:srgbClr val="0B0C0C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  <a:p>
            <a:endParaRPr lang="en-GB" sz="1600">
              <a:solidFill>
                <a:srgbClr val="0B0C0C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  <a:p>
            <a:endParaRPr lang="en-GB" sz="1600" i="0">
              <a:solidFill>
                <a:srgbClr val="0B0C0C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endParaRPr lang="en-GB" dirty="0"/>
          </a:p>
        </p:txBody>
      </p:sp>
      <p:pic>
        <p:nvPicPr>
          <p:cNvPr id="4" name="Picture 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409B5AB2-7016-49E2-05D3-38ECC322A9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27" t="25582" r="35113" b="23790"/>
          <a:stretch/>
        </p:blipFill>
        <p:spPr>
          <a:xfrm>
            <a:off x="10129366" y="646464"/>
            <a:ext cx="1313571" cy="132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05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3134E-8AA2-7D16-6166-1158A0D78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4082" y="2673952"/>
            <a:ext cx="8883836" cy="36776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400" b="1" dirty="0">
                <a:latin typeface="Aptos" panose="020B0004020202020204" pitchFamily="34" charset="0"/>
              </a:rPr>
              <a:t>Thank you </a:t>
            </a:r>
          </a:p>
        </p:txBody>
      </p:sp>
      <p:pic>
        <p:nvPicPr>
          <p:cNvPr id="4" name="Picture 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66AE6951-21A7-5811-7238-1CB4EBAD80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27" t="25582" r="35113" b="23790"/>
          <a:stretch/>
        </p:blipFill>
        <p:spPr>
          <a:xfrm>
            <a:off x="10149914" y="506365"/>
            <a:ext cx="1313571" cy="132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06397"/>
      </p:ext>
    </p:extLst>
  </p:cSld>
  <p:clrMapOvr>
    <a:masterClrMapping/>
  </p:clrMapOvr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644</Words>
  <Application>Microsoft Office PowerPoint</Application>
  <PresentationFormat>Widescreen</PresentationFormat>
  <Paragraphs>50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Neue Haas Grotesk Text Pro</vt:lpstr>
      <vt:lpstr>SwellVTI</vt:lpstr>
      <vt:lpstr>Insight Presentation on (Lost Mileage, Absence and Punctuality) </vt:lpstr>
      <vt:lpstr>Introduction</vt:lpstr>
      <vt:lpstr>Business Intelligence(BI) tools used</vt:lpstr>
      <vt:lpstr>PowerPoint Presentation</vt:lpstr>
      <vt:lpstr>PowerPoint Presentation</vt:lpstr>
      <vt:lpstr>Absence - Overview</vt:lpstr>
      <vt:lpstr>Punctuality - Overview</vt:lpstr>
      <vt:lpstr>Further Insight Recommendation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Aduragbemi Ayeni</dc:creator>
  <cp:lastModifiedBy>Aduragbemi Ayeni</cp:lastModifiedBy>
  <cp:revision>9</cp:revision>
  <dcterms:created xsi:type="dcterms:W3CDTF">2024-08-04T14:19:36Z</dcterms:created>
  <dcterms:modified xsi:type="dcterms:W3CDTF">2024-08-05T06:52:39Z</dcterms:modified>
</cp:coreProperties>
</file>