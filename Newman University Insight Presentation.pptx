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1" r:id="rId4"/>
    <p:sldId id="262" r:id="rId5"/>
    <p:sldId id="263" r:id="rId6"/>
    <p:sldId id="264" r:id="rId7"/>
    <p:sldId id="265" r:id="rId8"/>
    <p:sldId id="260" r:id="rId9"/>
    <p:sldId id="269" r:id="rId10"/>
    <p:sldId id="270" r:id="rId11"/>
    <p:sldId id="271" r:id="rId12"/>
    <p:sldId id="272" r:id="rId13"/>
    <p:sldId id="266" r:id="rId14"/>
    <p:sldId id="267" r:id="rId15"/>
    <p:sldId id="257" r:id="rId16"/>
    <p:sldId id="258"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14667A-E3BB-4711-B359-7B1E19F51081}">
          <p14:sldIdLst>
            <p14:sldId id="256"/>
            <p14:sldId id="259"/>
            <p14:sldId id="261"/>
            <p14:sldId id="262"/>
            <p14:sldId id="263"/>
            <p14:sldId id="264"/>
            <p14:sldId id="265"/>
            <p14:sldId id="260"/>
            <p14:sldId id="269"/>
            <p14:sldId id="270"/>
            <p14:sldId id="271"/>
            <p14:sldId id="272"/>
            <p14:sldId id="266"/>
            <p14:sldId id="267"/>
            <p14:sldId id="257"/>
            <p14:sldId id="258"/>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D96A-645C-42B7-7127-6F9403DEA8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4EEEDD3-7EC2-8622-AD33-97E8E8AE7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7BE60E8-747A-EE2A-C020-173E7E40D388}"/>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5" name="Footer Placeholder 4">
            <a:extLst>
              <a:ext uri="{FF2B5EF4-FFF2-40B4-BE49-F238E27FC236}">
                <a16:creationId xmlns:a16="http://schemas.microsoft.com/office/drawing/2014/main" id="{E08647FF-2451-2BA1-CACD-41AB9A1358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1396E0-9CF2-6381-F4CF-18A5C328AF7A}"/>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147691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9CE2F-D8EC-B99A-4472-EBF56970BF1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7741CD4-5A23-63DC-89CC-5AC85C948A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A29236-DDFA-8FD0-4CA4-695302F5F63B}"/>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5" name="Footer Placeholder 4">
            <a:extLst>
              <a:ext uri="{FF2B5EF4-FFF2-40B4-BE49-F238E27FC236}">
                <a16:creationId xmlns:a16="http://schemas.microsoft.com/office/drawing/2014/main" id="{93206E45-0631-3DF0-C666-543CC451A9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E83D1F-1846-8C77-BFFF-128AE9A6DA4D}"/>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1026964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446B-38C6-F0C0-4E8A-6BE58B74D4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2164799-C2A5-067E-8B96-7F9DCFB152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ADD509-AF80-74F4-70A4-DB8546097B55}"/>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5" name="Footer Placeholder 4">
            <a:extLst>
              <a:ext uri="{FF2B5EF4-FFF2-40B4-BE49-F238E27FC236}">
                <a16:creationId xmlns:a16="http://schemas.microsoft.com/office/drawing/2014/main" id="{034E55DE-C46F-7FC8-0A88-F3FDD9634C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B74FEA-C7FE-7C75-4B2A-7338B4D2D17D}"/>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856050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F3E53-4629-D139-A24C-9F540858ED4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CA87B93-DE2F-13F7-D797-39539C0EA0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B1DCA8F-92C4-3C5C-E548-060CA61544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14C02F1-7315-A818-2A4D-B2E25B371F9E}"/>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6" name="Footer Placeholder 5">
            <a:extLst>
              <a:ext uri="{FF2B5EF4-FFF2-40B4-BE49-F238E27FC236}">
                <a16:creationId xmlns:a16="http://schemas.microsoft.com/office/drawing/2014/main" id="{6240B08A-9D73-1979-483B-42551B958EE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D106213-6421-8B5C-591D-E2DD316C426F}"/>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3962842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C3050-2B85-628C-9F86-87C3FF5DA99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DF403A8-7A96-702F-4355-2AB8DBDAED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BA9437-DD15-86AE-3EB1-EA85A55CB1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E584BD3-6E1A-1813-15E1-C67B93E0BA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4B63EA-34BF-F0BF-8109-2DD76D72BC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FF16B86-D53C-E319-FCD4-69F3B04C4A84}"/>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8" name="Footer Placeholder 7">
            <a:extLst>
              <a:ext uri="{FF2B5EF4-FFF2-40B4-BE49-F238E27FC236}">
                <a16:creationId xmlns:a16="http://schemas.microsoft.com/office/drawing/2014/main" id="{6CAFDECE-386F-AC7E-F5BC-72043870080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B5F1E6-D8D8-A4DD-B996-9F24D77F3CD8}"/>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308383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2892-AB97-2FBE-B390-ACD90736640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72D3675-58BB-128A-87A2-D0A755CF5F6A}"/>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4" name="Footer Placeholder 3">
            <a:extLst>
              <a:ext uri="{FF2B5EF4-FFF2-40B4-BE49-F238E27FC236}">
                <a16:creationId xmlns:a16="http://schemas.microsoft.com/office/drawing/2014/main" id="{369BBA56-C1FC-E103-3371-48B0966B4B7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DC410E7-A454-69CD-0150-BE4BC6F54F36}"/>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1604306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C43A5F-4B75-0BB1-795A-0E1163F1712C}"/>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3" name="Footer Placeholder 2">
            <a:extLst>
              <a:ext uri="{FF2B5EF4-FFF2-40B4-BE49-F238E27FC236}">
                <a16:creationId xmlns:a16="http://schemas.microsoft.com/office/drawing/2014/main" id="{3660E491-3363-F766-E20E-1F5A93B9447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A01ADEA-B728-0380-738B-BDFCA7E5955B}"/>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294589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BE1B7-8DD3-ED76-B78D-29C5583347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124A864-68E9-93FA-5F56-B1D0761A43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6E9629D-1A63-623B-D891-F14282F378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60BDCF-94E0-E0C2-33DA-E286E300F5DA}"/>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6" name="Footer Placeholder 5">
            <a:extLst>
              <a:ext uri="{FF2B5EF4-FFF2-40B4-BE49-F238E27FC236}">
                <a16:creationId xmlns:a16="http://schemas.microsoft.com/office/drawing/2014/main" id="{8F96DEFC-31A7-4C25-CD18-2A73069E2C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8C03C54-2B4D-E2C6-5CB2-E3B7D0782533}"/>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2167262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33136-80B3-D668-6039-11AD835865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AE21703-6BB5-AD03-7B45-1A36E5E1B1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3568FEE-8A28-48E9-E0F7-94C33A332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F4AD90-8EC6-A0ED-4026-FC2581EDEE79}"/>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6" name="Footer Placeholder 5">
            <a:extLst>
              <a:ext uri="{FF2B5EF4-FFF2-40B4-BE49-F238E27FC236}">
                <a16:creationId xmlns:a16="http://schemas.microsoft.com/office/drawing/2014/main" id="{E454A523-4674-5FC2-95C5-2BD05396CF3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A06948-E8E4-B1CC-0129-FD6CF318A79F}"/>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4090158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60CA1-CD3D-44C6-08E6-65DC500BA59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DEDC31C-5AB6-EC07-AA23-9857D4289A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D20725-D76A-006B-7109-871CFE0D5E0C}"/>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5" name="Footer Placeholder 4">
            <a:extLst>
              <a:ext uri="{FF2B5EF4-FFF2-40B4-BE49-F238E27FC236}">
                <a16:creationId xmlns:a16="http://schemas.microsoft.com/office/drawing/2014/main" id="{6FF7851D-49A6-732C-3A53-1BCDB32542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B75BC7-6048-CAD0-8F40-741AA9336DA5}"/>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261416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9D498F-DFAD-439D-8407-7AA5D29C16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09B5787-B391-ED60-2F19-16F008CFE1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B98AB5-0F56-35AD-C87B-C39291E2C61E}"/>
              </a:ext>
            </a:extLst>
          </p:cNvPr>
          <p:cNvSpPr>
            <a:spLocks noGrp="1"/>
          </p:cNvSpPr>
          <p:nvPr>
            <p:ph type="dt" sz="half" idx="10"/>
          </p:nvPr>
        </p:nvSpPr>
        <p:spPr/>
        <p:txBody>
          <a:bodyPr/>
          <a:lstStyle/>
          <a:p>
            <a:fld id="{505F5B87-18A0-4A55-B8A9-774C73E2E89B}" type="datetimeFigureOut">
              <a:rPr lang="en-GB" smtClean="0"/>
              <a:t>05/06/2023</a:t>
            </a:fld>
            <a:endParaRPr lang="en-GB"/>
          </a:p>
        </p:txBody>
      </p:sp>
      <p:sp>
        <p:nvSpPr>
          <p:cNvPr id="5" name="Footer Placeholder 4">
            <a:extLst>
              <a:ext uri="{FF2B5EF4-FFF2-40B4-BE49-F238E27FC236}">
                <a16:creationId xmlns:a16="http://schemas.microsoft.com/office/drawing/2014/main" id="{64A3B583-1BDD-E718-5DBA-1BEA9FC5B2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BAD627-1CF8-3482-735A-CB00B9E44FD0}"/>
              </a:ext>
            </a:extLst>
          </p:cNvPr>
          <p:cNvSpPr>
            <a:spLocks noGrp="1"/>
          </p:cNvSpPr>
          <p:nvPr>
            <p:ph type="sldNum" sz="quarter" idx="12"/>
          </p:nvPr>
        </p:nvSpPr>
        <p:spPr/>
        <p:txBody>
          <a:bodyPr/>
          <a:lstStyle/>
          <a:p>
            <a:fld id="{BDC04BF3-055E-48C8-92E0-0B8E85F8B0C8}" type="slidenum">
              <a:rPr lang="en-GB" smtClean="0"/>
              <a:t>‹#›</a:t>
            </a:fld>
            <a:endParaRPr lang="en-GB"/>
          </a:p>
        </p:txBody>
      </p:sp>
    </p:spTree>
    <p:extLst>
      <p:ext uri="{BB962C8B-B14F-4D97-AF65-F5344CB8AC3E}">
        <p14:creationId xmlns:p14="http://schemas.microsoft.com/office/powerpoint/2010/main" val="3590640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8F4A71-15A9-6137-F191-FD52B47D0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BC48B4D-764F-60B5-6338-24906D14A1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AF6D28-1303-F118-9DBE-34CEEDA102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5F5B87-18A0-4A55-B8A9-774C73E2E89B}" type="datetimeFigureOut">
              <a:rPr lang="en-GB" smtClean="0"/>
              <a:t>05/06/2023</a:t>
            </a:fld>
            <a:endParaRPr lang="en-GB"/>
          </a:p>
        </p:txBody>
      </p:sp>
      <p:sp>
        <p:nvSpPr>
          <p:cNvPr id="5" name="Footer Placeholder 4">
            <a:extLst>
              <a:ext uri="{FF2B5EF4-FFF2-40B4-BE49-F238E27FC236}">
                <a16:creationId xmlns:a16="http://schemas.microsoft.com/office/drawing/2014/main" id="{CF4EC574-B843-571A-B7F7-1ADC19D052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BE188FB-ACF5-4007-D89E-112D9F7E3F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04BF3-055E-48C8-92E0-0B8E85F8B0C8}" type="slidenum">
              <a:rPr lang="en-GB" smtClean="0"/>
              <a:t>‹#›</a:t>
            </a:fld>
            <a:endParaRPr lang="en-GB"/>
          </a:p>
        </p:txBody>
      </p:sp>
    </p:spTree>
    <p:extLst>
      <p:ext uri="{BB962C8B-B14F-4D97-AF65-F5344CB8AC3E}">
        <p14:creationId xmlns:p14="http://schemas.microsoft.com/office/powerpoint/2010/main" val="2253682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998A4B-5EBE-7187-36D4-05F27218E770}"/>
              </a:ext>
            </a:extLst>
          </p:cNvPr>
          <p:cNvSpPr>
            <a:spLocks noGrp="1"/>
          </p:cNvSpPr>
          <p:nvPr>
            <p:ph type="ctrTitle"/>
          </p:nvPr>
        </p:nvSpPr>
        <p:spPr>
          <a:xfrm>
            <a:off x="143835" y="990114"/>
            <a:ext cx="7723815" cy="2943711"/>
          </a:xfrm>
        </p:spPr>
        <p:txBody>
          <a:bodyPr>
            <a:noAutofit/>
          </a:bodyPr>
          <a:lstStyle/>
          <a:p>
            <a:pPr algn="l"/>
            <a:r>
              <a:rPr lang="en-GB" sz="3600" b="1" dirty="0">
                <a:latin typeface="Abadi" panose="020B0604020104020204" pitchFamily="34" charset="0"/>
              </a:rPr>
              <a:t>Insight report on Newman University’s position in the Complete University Guide and the metrics involved.</a:t>
            </a:r>
          </a:p>
        </p:txBody>
      </p:sp>
      <p:sp>
        <p:nvSpPr>
          <p:cNvPr id="3" name="Subtitle 2">
            <a:extLst>
              <a:ext uri="{FF2B5EF4-FFF2-40B4-BE49-F238E27FC236}">
                <a16:creationId xmlns:a16="http://schemas.microsoft.com/office/drawing/2014/main" id="{59686494-D1AC-2214-A647-FD8CE5A5F478}"/>
              </a:ext>
            </a:extLst>
          </p:cNvPr>
          <p:cNvSpPr>
            <a:spLocks noGrp="1"/>
          </p:cNvSpPr>
          <p:nvPr>
            <p:ph type="subTitle" idx="1"/>
          </p:nvPr>
        </p:nvSpPr>
        <p:spPr>
          <a:xfrm>
            <a:off x="323088" y="4812136"/>
            <a:ext cx="6934963" cy="772563"/>
          </a:xfrm>
        </p:spPr>
        <p:txBody>
          <a:bodyPr>
            <a:normAutofit/>
          </a:bodyPr>
          <a:lstStyle/>
          <a:p>
            <a:pPr algn="l"/>
            <a:r>
              <a:rPr lang="en-GB" sz="1600" dirty="0">
                <a:ea typeface="Calibri" panose="020F0502020204030204" pitchFamily="34" charset="0"/>
                <a:cs typeface="Times New Roman" panose="02020603050405020304" pitchFamily="18" charset="0"/>
              </a:rPr>
              <a:t>R</a:t>
            </a:r>
            <a:r>
              <a:rPr lang="en-GB" sz="1600" dirty="0">
                <a:effectLst/>
                <a:ea typeface="Calibri" panose="020F0502020204030204" pitchFamily="34" charset="0"/>
                <a:cs typeface="Times New Roman" panose="02020603050405020304" pitchFamily="18" charset="0"/>
              </a:rPr>
              <a:t>eview of Newman University’s position in terms of ranking to understand the individual metrics used in the Complete University Guide (CUG) in order to increase our position in the table</a:t>
            </a:r>
            <a:endParaRPr lang="en-GB" sz="1600" dirty="0"/>
          </a:p>
        </p:txBody>
      </p:sp>
      <p:sp>
        <p:nvSpPr>
          <p:cNvPr id="2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symbol, emblem, logo, crest&#10;&#10;Description automatically generated">
            <a:extLst>
              <a:ext uri="{FF2B5EF4-FFF2-40B4-BE49-F238E27FC236}">
                <a16:creationId xmlns:a16="http://schemas.microsoft.com/office/drawing/2014/main" id="{6A2D1345-4864-6C02-CACD-871788B3D389}"/>
              </a:ext>
            </a:extLst>
          </p:cNvPr>
          <p:cNvPicPr>
            <a:picLocks noChangeAspect="1"/>
          </p:cNvPicPr>
          <p:nvPr/>
        </p:nvPicPr>
        <p:blipFill rotWithShape="1">
          <a:blip r:embed="rId2">
            <a:extLst>
              <a:ext uri="{28A0092B-C50C-407E-A947-70E740481C1C}">
                <a14:useLocalDpi xmlns:a14="http://schemas.microsoft.com/office/drawing/2010/main" val="0"/>
              </a:ext>
            </a:extLst>
          </a:blip>
          <a:srcRect l="11024" r="16171"/>
          <a:stretch/>
        </p:blipFill>
        <p:spPr>
          <a:xfrm>
            <a:off x="7781544" y="503697"/>
            <a:ext cx="4087368" cy="5614131"/>
          </a:xfrm>
          <a:prstGeom prst="rect">
            <a:avLst/>
          </a:prstGeom>
        </p:spPr>
      </p:pic>
    </p:spTree>
    <p:extLst>
      <p:ext uri="{BB962C8B-B14F-4D97-AF65-F5344CB8AC3E}">
        <p14:creationId xmlns:p14="http://schemas.microsoft.com/office/powerpoint/2010/main" val="1865787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66F3BE0-4833-8D7D-5FD1-39A546B1AF33}"/>
              </a:ext>
            </a:extLst>
          </p:cNvPr>
          <p:cNvSpPr>
            <a:spLocks noGrp="1"/>
          </p:cNvSpPr>
          <p:nvPr>
            <p:ph idx="1"/>
          </p:nvPr>
        </p:nvSpPr>
        <p:spPr>
          <a:xfrm>
            <a:off x="630936" y="2807208"/>
            <a:ext cx="3429000" cy="2940177"/>
          </a:xfrm>
        </p:spPr>
        <p:txBody>
          <a:bodyPr anchor="t">
            <a:normAutofit lnSpcReduction="10000"/>
          </a:bodyPr>
          <a:lstStyle/>
          <a:p>
            <a:pPr marL="0" indent="0">
              <a:buNone/>
            </a:pPr>
            <a:r>
              <a:rPr lang="en-GB" sz="2200" dirty="0"/>
              <a:t>Presentation made</a:t>
            </a:r>
            <a:br>
              <a:rPr lang="en-GB" sz="2200" b="1" dirty="0">
                <a:latin typeface="Humnst777 BlkCn BT" panose="020B0803030504020204" pitchFamily="34" charset="0"/>
              </a:rPr>
            </a:br>
            <a:br>
              <a:rPr lang="en-GB" sz="2200" b="1" dirty="0">
                <a:latin typeface="Humnst777 BlkCn BT" panose="020B0803030504020204" pitchFamily="34" charset="0"/>
              </a:rPr>
            </a:br>
            <a:r>
              <a:rPr lang="en-GB" sz="2200" dirty="0"/>
              <a:t>by</a:t>
            </a:r>
            <a:br>
              <a:rPr lang="en-GB" sz="2200" b="1" dirty="0">
                <a:latin typeface="Humnst777 BlkCn BT" panose="020B0803030504020204" pitchFamily="34" charset="0"/>
              </a:rPr>
            </a:br>
            <a:br>
              <a:rPr lang="en-GB" sz="2200" b="1" dirty="0">
                <a:latin typeface="Humnst777 BlkCn BT" panose="020B0803030504020204" pitchFamily="34" charset="0"/>
              </a:rPr>
            </a:br>
            <a:r>
              <a:rPr lang="en-GB" sz="2200" b="1" dirty="0">
                <a:latin typeface="Humnst777 BlkCn BT" panose="020B0803030504020204" pitchFamily="34" charset="0"/>
              </a:rPr>
              <a:t>Aduragbemi Ayeni</a:t>
            </a:r>
            <a:br>
              <a:rPr lang="en-GB" sz="2200" b="1" dirty="0">
                <a:latin typeface="Humnst777 BlkCn BT" panose="020B0803030504020204" pitchFamily="34" charset="0"/>
              </a:rPr>
            </a:br>
            <a:br>
              <a:rPr lang="en-GB" sz="2200" b="1" dirty="0">
                <a:latin typeface="Humnst777 BlkCn BT" panose="020B0803030504020204" pitchFamily="34" charset="0"/>
              </a:rPr>
            </a:br>
            <a:r>
              <a:rPr lang="en-GB" sz="1800" dirty="0"/>
              <a:t>on</a:t>
            </a:r>
            <a:r>
              <a:rPr lang="en-GB" sz="1800" b="1" dirty="0">
                <a:latin typeface="Humnst777 BlkCn BT" panose="020B0803030504020204" pitchFamily="34" charset="0"/>
              </a:rPr>
              <a:t> </a:t>
            </a:r>
            <a:br>
              <a:rPr lang="en-GB" sz="2200" b="1" dirty="0">
                <a:latin typeface="Humnst777 BlkCn BT" panose="020B0803030504020204" pitchFamily="34" charset="0"/>
              </a:rPr>
            </a:br>
            <a:br>
              <a:rPr lang="en-GB" sz="2200" b="1" dirty="0">
                <a:latin typeface="Humnst777 BlkCn BT" panose="020B0803030504020204" pitchFamily="34" charset="0"/>
              </a:rPr>
            </a:br>
            <a:r>
              <a:rPr lang="en-GB" sz="1800" dirty="0"/>
              <a:t>6</a:t>
            </a:r>
            <a:r>
              <a:rPr lang="en-GB" sz="1800" baseline="30000" dirty="0"/>
              <a:t>th</a:t>
            </a:r>
            <a:r>
              <a:rPr lang="en-GB" sz="1800" dirty="0"/>
              <a:t> of June 2023</a:t>
            </a:r>
            <a:br>
              <a:rPr lang="en-GB" sz="2200" dirty="0"/>
            </a:br>
            <a:endParaRPr lang="en-GB" sz="2200" dirty="0"/>
          </a:p>
        </p:txBody>
      </p:sp>
      <p:pic>
        <p:nvPicPr>
          <p:cNvPr id="6" name="Picture 5" descr="A picture containing text, font, logo, symbol&#10;&#10;Description automatically generated">
            <a:extLst>
              <a:ext uri="{FF2B5EF4-FFF2-40B4-BE49-F238E27FC236}">
                <a16:creationId xmlns:a16="http://schemas.microsoft.com/office/drawing/2014/main" id="{6916948F-16CC-B277-8DB3-00573B74F5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5830" y="908685"/>
            <a:ext cx="6903720" cy="3797045"/>
          </a:xfrm>
          <a:prstGeom prst="rect">
            <a:avLst/>
          </a:prstGeom>
        </p:spPr>
      </p:pic>
      <p:sp>
        <p:nvSpPr>
          <p:cNvPr id="22" name="TextBox 21">
            <a:extLst>
              <a:ext uri="{FF2B5EF4-FFF2-40B4-BE49-F238E27FC236}">
                <a16:creationId xmlns:a16="http://schemas.microsoft.com/office/drawing/2014/main" id="{84D7A8BB-7734-D2FC-B866-69EBED9C2340}"/>
              </a:ext>
            </a:extLst>
          </p:cNvPr>
          <p:cNvSpPr txBox="1"/>
          <p:nvPr/>
        </p:nvSpPr>
        <p:spPr>
          <a:xfrm>
            <a:off x="552450" y="1944942"/>
            <a:ext cx="4127756" cy="369332"/>
          </a:xfrm>
          <a:prstGeom prst="rect">
            <a:avLst/>
          </a:prstGeom>
          <a:noFill/>
        </p:spPr>
        <p:txBody>
          <a:bodyPr wrap="square">
            <a:spAutoFit/>
          </a:bodyPr>
          <a:lstStyle/>
          <a:p>
            <a:r>
              <a:rPr lang="en-GB" sz="1800" b="1" dirty="0">
                <a:ea typeface="Calibri" panose="020F0502020204030204" pitchFamily="34" charset="0"/>
                <a:cs typeface="Times New Roman" panose="02020603050405020304" pitchFamily="18" charset="0"/>
              </a:rPr>
              <a:t>R</a:t>
            </a:r>
            <a:r>
              <a:rPr lang="en-GB" sz="1800" b="1" dirty="0">
                <a:effectLst/>
                <a:ea typeface="Calibri" panose="020F0502020204030204" pitchFamily="34" charset="0"/>
                <a:cs typeface="Times New Roman" panose="02020603050405020304" pitchFamily="18" charset="0"/>
              </a:rPr>
              <a:t>eview of Newman University’s position </a:t>
            </a:r>
            <a:endParaRPr lang="en-GB" b="1" dirty="0"/>
          </a:p>
        </p:txBody>
      </p:sp>
    </p:spTree>
    <p:extLst>
      <p:ext uri="{BB962C8B-B14F-4D97-AF65-F5344CB8AC3E}">
        <p14:creationId xmlns:p14="http://schemas.microsoft.com/office/powerpoint/2010/main" val="2777420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0FEC9-A758-A6EA-2B73-076BCC1C3A06}"/>
              </a:ext>
            </a:extLst>
          </p:cNvPr>
          <p:cNvSpPr>
            <a:spLocks noGrp="1"/>
          </p:cNvSpPr>
          <p:nvPr>
            <p:ph type="title"/>
          </p:nvPr>
        </p:nvSpPr>
        <p:spPr>
          <a:xfrm>
            <a:off x="451944" y="2519174"/>
            <a:ext cx="10515600" cy="662781"/>
          </a:xfrm>
        </p:spPr>
        <p:txBody>
          <a:bodyPr>
            <a:normAutofit fontScale="90000"/>
          </a:bodyPr>
          <a:lstStyle/>
          <a:p>
            <a:r>
              <a:rPr lang="en-GB" b="1" dirty="0">
                <a:latin typeface="+mn-lt"/>
              </a:rPr>
              <a:t>SMART Objective</a:t>
            </a:r>
          </a:p>
        </p:txBody>
      </p:sp>
      <p:sp>
        <p:nvSpPr>
          <p:cNvPr id="3" name="Content Placeholder 2">
            <a:extLst>
              <a:ext uri="{FF2B5EF4-FFF2-40B4-BE49-F238E27FC236}">
                <a16:creationId xmlns:a16="http://schemas.microsoft.com/office/drawing/2014/main" id="{B64A3B49-F7C3-1E03-6C07-01BC008B5FEE}"/>
              </a:ext>
            </a:extLst>
          </p:cNvPr>
          <p:cNvSpPr>
            <a:spLocks noGrp="1"/>
          </p:cNvSpPr>
          <p:nvPr>
            <p:ph idx="1"/>
          </p:nvPr>
        </p:nvSpPr>
        <p:spPr>
          <a:xfrm>
            <a:off x="451944" y="3034810"/>
            <a:ext cx="11073306" cy="2262403"/>
          </a:xfrm>
        </p:spPr>
        <p:txBody>
          <a:bodyPr>
            <a:normAutofit/>
          </a:bodyPr>
          <a:lstStyle/>
          <a:p>
            <a:pPr marL="0" indent="0">
              <a:buNone/>
            </a:pPr>
            <a:endParaRPr lang="en-GB" dirty="0"/>
          </a:p>
          <a:p>
            <a:pPr marL="0" indent="0" algn="just">
              <a:buNone/>
            </a:pPr>
            <a:r>
              <a:rPr lang="en-GB" sz="2000" dirty="0"/>
              <a:t>By the end of the </a:t>
            </a:r>
            <a:r>
              <a:rPr lang="en-GB" sz="2000" b="1" dirty="0">
                <a:solidFill>
                  <a:srgbClr val="C00000"/>
                </a:solidFill>
              </a:rPr>
              <a:t>academic year 2023/2024</a:t>
            </a:r>
            <a:r>
              <a:rPr lang="en-GB" sz="2000" dirty="0"/>
              <a:t>, we will increase our position in the Complete University Guide (CUG) league table by analysing our current ranking and understanding the individual metrics used in the CUG and implementing targeted strategies to improve our performance in these metrics.</a:t>
            </a:r>
          </a:p>
        </p:txBody>
      </p:sp>
      <p:pic>
        <p:nvPicPr>
          <p:cNvPr id="4" name="Picture 3" descr="A picture containing text, font, logo, symbol">
            <a:extLst>
              <a:ext uri="{FF2B5EF4-FFF2-40B4-BE49-F238E27FC236}">
                <a16:creationId xmlns:a16="http://schemas.microsoft.com/office/drawing/2014/main" id="{7E0ED37A-4706-F880-A4EB-824565B06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584" y="0"/>
            <a:ext cx="3525563" cy="1939060"/>
          </a:xfrm>
          <a:prstGeom prst="rect">
            <a:avLst/>
          </a:prstGeom>
        </p:spPr>
      </p:pic>
    </p:spTree>
    <p:extLst>
      <p:ext uri="{BB962C8B-B14F-4D97-AF65-F5344CB8AC3E}">
        <p14:creationId xmlns:p14="http://schemas.microsoft.com/office/powerpoint/2010/main" val="2880396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9A87A-8AB0-D4B2-6205-9B52EEA06462}"/>
              </a:ext>
            </a:extLst>
          </p:cNvPr>
          <p:cNvSpPr>
            <a:spLocks noGrp="1"/>
          </p:cNvSpPr>
          <p:nvPr>
            <p:ph type="title"/>
          </p:nvPr>
        </p:nvSpPr>
        <p:spPr>
          <a:xfrm>
            <a:off x="461010" y="365125"/>
            <a:ext cx="11136630" cy="1325563"/>
          </a:xfrm>
        </p:spPr>
        <p:txBody>
          <a:bodyPr>
            <a:normAutofit/>
          </a:bodyPr>
          <a:lstStyle/>
          <a:p>
            <a:r>
              <a:rPr lang="en-GB" b="1" dirty="0"/>
              <a:t>Data Cleaning and Data Preparation </a:t>
            </a:r>
            <a:r>
              <a:rPr lang="en-GB" sz="3200" b="1" dirty="0"/>
              <a:t>(Using Python)</a:t>
            </a:r>
            <a:endParaRPr lang="en-GB" b="1" dirty="0"/>
          </a:p>
        </p:txBody>
      </p:sp>
      <p:sp>
        <p:nvSpPr>
          <p:cNvPr id="10" name="Content Placeholder 2">
            <a:extLst>
              <a:ext uri="{FF2B5EF4-FFF2-40B4-BE49-F238E27FC236}">
                <a16:creationId xmlns:a16="http://schemas.microsoft.com/office/drawing/2014/main" id="{18EEC3DE-43AE-4BD1-7CFE-82992C884D18}"/>
              </a:ext>
            </a:extLst>
          </p:cNvPr>
          <p:cNvSpPr txBox="1">
            <a:spLocks/>
          </p:cNvSpPr>
          <p:nvPr/>
        </p:nvSpPr>
        <p:spPr>
          <a:xfrm>
            <a:off x="5643716" y="1355407"/>
            <a:ext cx="6548284" cy="33880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3200" b="1" dirty="0"/>
              <a:t>Observation</a:t>
            </a:r>
            <a:br>
              <a:rPr lang="en-GB" sz="3200" b="1" dirty="0"/>
            </a:br>
            <a:r>
              <a:rPr lang="en-GB" sz="1800" b="1" dirty="0"/>
              <a:t>- </a:t>
            </a:r>
            <a:r>
              <a:rPr lang="en-GB" sz="1800" dirty="0"/>
              <a:t>It was observed that </a:t>
            </a:r>
            <a:br>
              <a:rPr lang="en-GB" sz="1800" dirty="0"/>
            </a:br>
            <a:r>
              <a:rPr lang="en-GB" sz="1800" b="1" dirty="0"/>
              <a:t>University of Oxford </a:t>
            </a:r>
            <a:r>
              <a:rPr lang="en-GB" sz="1800" dirty="0"/>
              <a:t>and </a:t>
            </a:r>
            <a:r>
              <a:rPr lang="en-GB" sz="1800" b="1" dirty="0"/>
              <a:t>University of Cambridge </a:t>
            </a:r>
            <a:r>
              <a:rPr lang="en-GB" sz="1800" dirty="0"/>
              <a:t>had missing cell value under </a:t>
            </a:r>
            <a:r>
              <a:rPr lang="en-GB" sz="1800" b="1" dirty="0">
                <a:solidFill>
                  <a:srgbClr val="C00000"/>
                </a:solidFill>
              </a:rPr>
              <a:t>Student Satisfaction.</a:t>
            </a:r>
            <a:br>
              <a:rPr lang="en-GB" sz="1800" b="1" dirty="0">
                <a:solidFill>
                  <a:srgbClr val="C00000"/>
                </a:solidFill>
              </a:rPr>
            </a:br>
            <a:br>
              <a:rPr lang="en-GB" sz="1800" b="1" dirty="0"/>
            </a:br>
            <a:r>
              <a:rPr lang="en-GB" sz="1800" b="1" dirty="0"/>
              <a:t>-University of Buckingham </a:t>
            </a:r>
            <a:r>
              <a:rPr lang="en-GB" sz="1800" dirty="0"/>
              <a:t>had missing cell value under </a:t>
            </a:r>
            <a:r>
              <a:rPr lang="en-GB" sz="1800" b="1" dirty="0">
                <a:solidFill>
                  <a:srgbClr val="C00000"/>
                </a:solidFill>
              </a:rPr>
              <a:t>Research Quality </a:t>
            </a:r>
            <a:r>
              <a:rPr lang="en-GB" sz="1800" dirty="0"/>
              <a:t>and</a:t>
            </a:r>
            <a:r>
              <a:rPr lang="en-GB" sz="1800" b="1" dirty="0"/>
              <a:t> </a:t>
            </a:r>
            <a:r>
              <a:rPr lang="en-GB" sz="1800" b="1" dirty="0">
                <a:solidFill>
                  <a:srgbClr val="C00000"/>
                </a:solidFill>
              </a:rPr>
              <a:t>Research Intensity .</a:t>
            </a:r>
            <a:br>
              <a:rPr lang="en-GB" sz="1800" b="1" dirty="0">
                <a:solidFill>
                  <a:srgbClr val="C00000"/>
                </a:solidFill>
              </a:rPr>
            </a:br>
            <a:br>
              <a:rPr lang="en-GB" sz="1800" b="1" dirty="0">
                <a:solidFill>
                  <a:srgbClr val="C00000"/>
                </a:solidFill>
              </a:rPr>
            </a:br>
            <a:r>
              <a:rPr lang="en-GB" sz="3200" b="1" dirty="0"/>
              <a:t>Action</a:t>
            </a:r>
            <a:br>
              <a:rPr lang="en-GB" sz="3200" b="1" dirty="0"/>
            </a:br>
            <a:r>
              <a:rPr lang="en-GB" sz="1800" dirty="0"/>
              <a:t>The </a:t>
            </a:r>
            <a:r>
              <a:rPr lang="en-GB" sz="1800" b="1" dirty="0">
                <a:solidFill>
                  <a:srgbClr val="C00000"/>
                </a:solidFill>
              </a:rPr>
              <a:t>mean </a:t>
            </a:r>
            <a:r>
              <a:rPr lang="en-GB" sz="1800" dirty="0"/>
              <a:t>of the two closest non-empty cells was used to replace the missing values for the sake of this project.</a:t>
            </a:r>
            <a:endParaRPr lang="en-GB" sz="3200" dirty="0">
              <a:solidFill>
                <a:srgbClr val="C00000"/>
              </a:solidFill>
            </a:endParaRPr>
          </a:p>
          <a:p>
            <a:pPr marL="0" indent="0">
              <a:buFont typeface="Arial" panose="020B0604020202020204" pitchFamily="34" charset="0"/>
              <a:buNone/>
            </a:pPr>
            <a:endParaRPr lang="en-GB" sz="1800" b="1" dirty="0"/>
          </a:p>
        </p:txBody>
      </p:sp>
      <p:pic>
        <p:nvPicPr>
          <p:cNvPr id="4" name="Picture 3" descr="A screenshot of a computer&#10;&#10;Description automatically generated with medium confidence">
            <a:extLst>
              <a:ext uri="{FF2B5EF4-FFF2-40B4-BE49-F238E27FC236}">
                <a16:creationId xmlns:a16="http://schemas.microsoft.com/office/drawing/2014/main" id="{63468EC3-9920-D94D-7A7E-202C72EC9C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 y="1376046"/>
            <a:ext cx="4562475" cy="3638550"/>
          </a:xfrm>
          <a:prstGeom prst="rect">
            <a:avLst/>
          </a:prstGeom>
        </p:spPr>
      </p:pic>
      <p:pic>
        <p:nvPicPr>
          <p:cNvPr id="12" name="Picture 11" descr="A picture containing text, font, number, white&#10;&#10;Description automatically generated">
            <a:extLst>
              <a:ext uri="{FF2B5EF4-FFF2-40B4-BE49-F238E27FC236}">
                <a16:creationId xmlns:a16="http://schemas.microsoft.com/office/drawing/2014/main" id="{DCF4D1E1-36B5-B4A0-B244-8DFDDE8030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10" y="4996817"/>
            <a:ext cx="9525000" cy="1800225"/>
          </a:xfrm>
          <a:prstGeom prst="rect">
            <a:avLst/>
          </a:prstGeom>
        </p:spPr>
      </p:pic>
      <p:sp>
        <p:nvSpPr>
          <p:cNvPr id="17" name="Rectangle 16">
            <a:extLst>
              <a:ext uri="{FF2B5EF4-FFF2-40B4-BE49-F238E27FC236}">
                <a16:creationId xmlns:a16="http://schemas.microsoft.com/office/drawing/2014/main" id="{A3D08157-7E53-6F56-BFAC-4A3438C49D1E}"/>
              </a:ext>
            </a:extLst>
          </p:cNvPr>
          <p:cNvSpPr/>
          <p:nvPr/>
        </p:nvSpPr>
        <p:spPr>
          <a:xfrm>
            <a:off x="3209924" y="5657849"/>
            <a:ext cx="504825" cy="67627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9235B98B-5D51-92CD-598B-7D61AD48FC04}"/>
              </a:ext>
            </a:extLst>
          </p:cNvPr>
          <p:cNvSpPr/>
          <p:nvPr/>
        </p:nvSpPr>
        <p:spPr>
          <a:xfrm>
            <a:off x="3855719" y="6334124"/>
            <a:ext cx="1163955" cy="46291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5431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82DAE-0BC3-16A9-1678-2F634900383E}"/>
              </a:ext>
            </a:extLst>
          </p:cNvPr>
          <p:cNvSpPr>
            <a:spLocks noGrp="1"/>
          </p:cNvSpPr>
          <p:nvPr>
            <p:ph type="title"/>
          </p:nvPr>
        </p:nvSpPr>
        <p:spPr>
          <a:xfrm>
            <a:off x="3157483" y="295536"/>
            <a:ext cx="3258557" cy="748078"/>
          </a:xfrm>
        </p:spPr>
        <p:txBody>
          <a:bodyPr/>
          <a:lstStyle/>
          <a:p>
            <a:r>
              <a:rPr lang="en-GB" b="1" dirty="0"/>
              <a:t>Data Insight</a:t>
            </a:r>
          </a:p>
        </p:txBody>
      </p:sp>
      <p:pic>
        <p:nvPicPr>
          <p:cNvPr id="9" name="Picture 8" descr="A picture containing text, font, logo, symbol">
            <a:extLst>
              <a:ext uri="{FF2B5EF4-FFF2-40B4-BE49-F238E27FC236}">
                <a16:creationId xmlns:a16="http://schemas.microsoft.com/office/drawing/2014/main" id="{B04BAD8C-31C6-4F54-2B5A-C9A28D93D49D}"/>
              </a:ext>
            </a:extLst>
          </p:cNvPr>
          <p:cNvPicPr>
            <a:picLocks noChangeAspect="1"/>
          </p:cNvPicPr>
          <p:nvPr/>
        </p:nvPicPr>
        <p:blipFill rotWithShape="1">
          <a:blip r:embed="rId2">
            <a:extLst>
              <a:ext uri="{28A0092B-C50C-407E-A947-70E740481C1C}">
                <a14:useLocalDpi xmlns:a14="http://schemas.microsoft.com/office/drawing/2010/main" val="0"/>
              </a:ext>
            </a:extLst>
          </a:blip>
          <a:srcRect t="24934" b="11812"/>
          <a:stretch/>
        </p:blipFill>
        <p:spPr>
          <a:xfrm>
            <a:off x="202735" y="182847"/>
            <a:ext cx="2688776" cy="935419"/>
          </a:xfrm>
          <a:prstGeom prst="rect">
            <a:avLst/>
          </a:prstGeom>
        </p:spPr>
      </p:pic>
      <p:pic>
        <p:nvPicPr>
          <p:cNvPr id="30" name="Picture 29">
            <a:extLst>
              <a:ext uri="{FF2B5EF4-FFF2-40B4-BE49-F238E27FC236}">
                <a16:creationId xmlns:a16="http://schemas.microsoft.com/office/drawing/2014/main" id="{C7AFED5C-B3DE-B771-2148-7373734E6647}"/>
              </a:ext>
            </a:extLst>
          </p:cNvPr>
          <p:cNvPicPr>
            <a:picLocks noChangeAspect="1"/>
          </p:cNvPicPr>
          <p:nvPr/>
        </p:nvPicPr>
        <p:blipFill>
          <a:blip r:embed="rId3"/>
          <a:stretch>
            <a:fillRect/>
          </a:stretch>
        </p:blipFill>
        <p:spPr>
          <a:xfrm>
            <a:off x="1093306" y="1008855"/>
            <a:ext cx="10408443" cy="5764143"/>
          </a:xfrm>
          <a:prstGeom prst="rect">
            <a:avLst/>
          </a:prstGeom>
        </p:spPr>
      </p:pic>
      <p:cxnSp>
        <p:nvCxnSpPr>
          <p:cNvPr id="31" name="Straight Connector 30">
            <a:extLst>
              <a:ext uri="{FF2B5EF4-FFF2-40B4-BE49-F238E27FC236}">
                <a16:creationId xmlns:a16="http://schemas.microsoft.com/office/drawing/2014/main" id="{5DB9323C-62FA-3DFA-9F7B-0B87323D12D5}"/>
              </a:ext>
            </a:extLst>
          </p:cNvPr>
          <p:cNvCxnSpPr>
            <a:cxnSpLocks/>
          </p:cNvCxnSpPr>
          <p:nvPr/>
        </p:nvCxnSpPr>
        <p:spPr>
          <a:xfrm>
            <a:off x="3117727" y="2196107"/>
            <a:ext cx="61614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E01DBE6-42D8-02EB-911A-E2E56D8E4DC9}"/>
              </a:ext>
            </a:extLst>
          </p:cNvPr>
          <p:cNvSpPr txBox="1"/>
          <p:nvPr/>
        </p:nvSpPr>
        <p:spPr>
          <a:xfrm>
            <a:off x="3164493" y="2131389"/>
            <a:ext cx="574000" cy="369332"/>
          </a:xfrm>
          <a:prstGeom prst="rect">
            <a:avLst/>
          </a:prstGeom>
          <a:noFill/>
        </p:spPr>
        <p:txBody>
          <a:bodyPr wrap="square" rtlCol="0">
            <a:spAutoFit/>
          </a:bodyPr>
          <a:lstStyle/>
          <a:p>
            <a:r>
              <a:rPr lang="en-GB" dirty="0">
                <a:solidFill>
                  <a:schemeClr val="bg1"/>
                </a:solidFill>
              </a:rPr>
              <a:t>130</a:t>
            </a:r>
          </a:p>
        </p:txBody>
      </p:sp>
      <p:sp>
        <p:nvSpPr>
          <p:cNvPr id="33" name="TextBox 32">
            <a:extLst>
              <a:ext uri="{FF2B5EF4-FFF2-40B4-BE49-F238E27FC236}">
                <a16:creationId xmlns:a16="http://schemas.microsoft.com/office/drawing/2014/main" id="{BFAD7BFE-D38F-C198-5168-CD700DA602CB}"/>
              </a:ext>
            </a:extLst>
          </p:cNvPr>
          <p:cNvSpPr txBox="1"/>
          <p:nvPr/>
        </p:nvSpPr>
        <p:spPr>
          <a:xfrm>
            <a:off x="3159868" y="3098391"/>
            <a:ext cx="721360" cy="338554"/>
          </a:xfrm>
          <a:prstGeom prst="rect">
            <a:avLst/>
          </a:prstGeom>
          <a:noFill/>
        </p:spPr>
        <p:txBody>
          <a:bodyPr wrap="square" rtlCol="0">
            <a:spAutoFit/>
          </a:bodyPr>
          <a:lstStyle/>
          <a:p>
            <a:r>
              <a:rPr lang="en-GB" sz="1600" dirty="0">
                <a:solidFill>
                  <a:schemeClr val="bg1"/>
                </a:solidFill>
              </a:rPr>
              <a:t>1000</a:t>
            </a:r>
          </a:p>
        </p:txBody>
      </p:sp>
      <p:cxnSp>
        <p:nvCxnSpPr>
          <p:cNvPr id="34" name="Straight Connector 33">
            <a:extLst>
              <a:ext uri="{FF2B5EF4-FFF2-40B4-BE49-F238E27FC236}">
                <a16:creationId xmlns:a16="http://schemas.microsoft.com/office/drawing/2014/main" id="{89AC1779-321B-9A18-1F22-A6B2CD45E704}"/>
              </a:ext>
            </a:extLst>
          </p:cNvPr>
          <p:cNvCxnSpPr>
            <a:cxnSpLocks/>
          </p:cNvCxnSpPr>
          <p:nvPr/>
        </p:nvCxnSpPr>
        <p:spPr>
          <a:xfrm>
            <a:off x="3217018" y="3140324"/>
            <a:ext cx="457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962315B-A525-F061-602E-B32A56E7A40B}"/>
              </a:ext>
            </a:extLst>
          </p:cNvPr>
          <p:cNvCxnSpPr>
            <a:cxnSpLocks/>
          </p:cNvCxnSpPr>
          <p:nvPr/>
        </p:nvCxnSpPr>
        <p:spPr>
          <a:xfrm>
            <a:off x="3159868" y="4113116"/>
            <a:ext cx="457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69FDE9E-613A-C4A4-9698-5265EEE186A5}"/>
              </a:ext>
            </a:extLst>
          </p:cNvPr>
          <p:cNvSpPr txBox="1"/>
          <p:nvPr/>
        </p:nvSpPr>
        <p:spPr>
          <a:xfrm>
            <a:off x="3095694" y="4058318"/>
            <a:ext cx="638175" cy="307777"/>
          </a:xfrm>
          <a:prstGeom prst="rect">
            <a:avLst/>
          </a:prstGeom>
          <a:noFill/>
        </p:spPr>
        <p:txBody>
          <a:bodyPr wrap="square">
            <a:spAutoFit/>
          </a:bodyPr>
          <a:lstStyle/>
          <a:p>
            <a:r>
              <a:rPr lang="en-GB" sz="1400" dirty="0">
                <a:solidFill>
                  <a:schemeClr val="bg1"/>
                </a:solidFill>
              </a:rPr>
              <a:t>100%</a:t>
            </a:r>
          </a:p>
        </p:txBody>
      </p:sp>
    </p:spTree>
    <p:extLst>
      <p:ext uri="{BB962C8B-B14F-4D97-AF65-F5344CB8AC3E}">
        <p14:creationId xmlns:p14="http://schemas.microsoft.com/office/powerpoint/2010/main" val="80449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53E4D-62E4-CB50-F800-5F3008EA44B3}"/>
              </a:ext>
            </a:extLst>
          </p:cNvPr>
          <p:cNvSpPr>
            <a:spLocks noGrp="1"/>
          </p:cNvSpPr>
          <p:nvPr>
            <p:ph type="title"/>
          </p:nvPr>
        </p:nvSpPr>
        <p:spPr>
          <a:xfrm>
            <a:off x="472965" y="1390476"/>
            <a:ext cx="10515600" cy="581186"/>
          </a:xfrm>
        </p:spPr>
        <p:txBody>
          <a:bodyPr>
            <a:normAutofit fontScale="90000"/>
          </a:bodyPr>
          <a:lstStyle/>
          <a:p>
            <a:r>
              <a:rPr lang="en-GB" b="1" dirty="0"/>
              <a:t>Who are our Competitors?</a:t>
            </a:r>
          </a:p>
        </p:txBody>
      </p:sp>
      <p:sp>
        <p:nvSpPr>
          <p:cNvPr id="3" name="Content Placeholder 2">
            <a:extLst>
              <a:ext uri="{FF2B5EF4-FFF2-40B4-BE49-F238E27FC236}">
                <a16:creationId xmlns:a16="http://schemas.microsoft.com/office/drawing/2014/main" id="{69A9F30D-7D59-F36D-96B4-DA0ED06A7E63}"/>
              </a:ext>
            </a:extLst>
          </p:cNvPr>
          <p:cNvSpPr>
            <a:spLocks noGrp="1"/>
          </p:cNvSpPr>
          <p:nvPr>
            <p:ph idx="1"/>
          </p:nvPr>
        </p:nvSpPr>
        <p:spPr>
          <a:xfrm>
            <a:off x="381001" y="2320413"/>
            <a:ext cx="11039474" cy="3362632"/>
          </a:xfrm>
        </p:spPr>
        <p:txBody>
          <a:bodyPr>
            <a:normAutofit/>
          </a:bodyPr>
          <a:lstStyle/>
          <a:p>
            <a:pPr marL="0" indent="0">
              <a:buNone/>
            </a:pPr>
            <a:r>
              <a:rPr lang="en-GB" sz="2000" dirty="0"/>
              <a:t>To analyse the  competitors, we’ll consider some factors to identify competitors with respect to the Metrics</a:t>
            </a:r>
            <a:br>
              <a:rPr lang="en-GB" sz="2000" dirty="0"/>
            </a:br>
            <a:br>
              <a:rPr lang="en-GB" sz="2000" dirty="0"/>
            </a:br>
            <a:r>
              <a:rPr lang="en-GB" sz="2000" b="1" dirty="0"/>
              <a:t>- 5 Top Institutions and 5 bottom Institutions from Newman University position on the League table </a:t>
            </a:r>
            <a:br>
              <a:rPr lang="en-GB" sz="2000" b="1" dirty="0"/>
            </a:br>
            <a:br>
              <a:rPr lang="en-GB" sz="2000" b="1" dirty="0"/>
            </a:br>
            <a:r>
              <a:rPr lang="en-GB" sz="2000" b="1" dirty="0"/>
              <a:t>- West Midlands Region – </a:t>
            </a:r>
            <a:r>
              <a:rPr lang="en-GB" sz="2000" dirty="0"/>
              <a:t>Newman University falls in west midlands university region in the UK.</a:t>
            </a:r>
            <a:br>
              <a:rPr lang="en-GB" sz="2000" b="1" dirty="0"/>
            </a:br>
            <a:br>
              <a:rPr lang="en-GB" sz="2000" b="1" dirty="0"/>
            </a:br>
            <a:r>
              <a:rPr lang="en-GB" sz="2000" b="1" dirty="0"/>
              <a:t>- Cathedral University Group – </a:t>
            </a:r>
            <a:r>
              <a:rPr lang="en-GB" sz="2000" dirty="0"/>
              <a:t>Newman university belongs to the cathedral university group in the UK.</a:t>
            </a:r>
            <a:br>
              <a:rPr lang="en-GB" sz="2000" dirty="0"/>
            </a:br>
            <a:endParaRPr lang="en-GB" sz="2000" dirty="0"/>
          </a:p>
        </p:txBody>
      </p:sp>
      <p:pic>
        <p:nvPicPr>
          <p:cNvPr id="4" name="Picture 3" descr="A picture containing text, font, logo, symbol">
            <a:extLst>
              <a:ext uri="{FF2B5EF4-FFF2-40B4-BE49-F238E27FC236}">
                <a16:creationId xmlns:a16="http://schemas.microsoft.com/office/drawing/2014/main" id="{548004C9-4EB4-362C-2004-43CD4EAD69E4}"/>
              </a:ext>
            </a:extLst>
          </p:cNvPr>
          <p:cNvPicPr>
            <a:picLocks noChangeAspect="1"/>
          </p:cNvPicPr>
          <p:nvPr/>
        </p:nvPicPr>
        <p:blipFill rotWithShape="1">
          <a:blip r:embed="rId2">
            <a:extLst>
              <a:ext uri="{28A0092B-C50C-407E-A947-70E740481C1C}">
                <a14:useLocalDpi xmlns:a14="http://schemas.microsoft.com/office/drawing/2010/main" val="0"/>
              </a:ext>
            </a:extLst>
          </a:blip>
          <a:srcRect t="24934" b="11812"/>
          <a:stretch/>
        </p:blipFill>
        <p:spPr>
          <a:xfrm>
            <a:off x="451945" y="213327"/>
            <a:ext cx="2688776" cy="935419"/>
          </a:xfrm>
          <a:prstGeom prst="rect">
            <a:avLst/>
          </a:prstGeom>
        </p:spPr>
      </p:pic>
    </p:spTree>
    <p:extLst>
      <p:ext uri="{BB962C8B-B14F-4D97-AF65-F5344CB8AC3E}">
        <p14:creationId xmlns:p14="http://schemas.microsoft.com/office/powerpoint/2010/main" val="3604613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font, logo, symbol">
            <a:extLst>
              <a:ext uri="{FF2B5EF4-FFF2-40B4-BE49-F238E27FC236}">
                <a16:creationId xmlns:a16="http://schemas.microsoft.com/office/drawing/2014/main" id="{7D161BC3-E55C-B79A-CE41-413D5019DC29}"/>
              </a:ext>
            </a:extLst>
          </p:cNvPr>
          <p:cNvPicPr>
            <a:picLocks noChangeAspect="1"/>
          </p:cNvPicPr>
          <p:nvPr/>
        </p:nvPicPr>
        <p:blipFill rotWithShape="1">
          <a:blip r:embed="rId2">
            <a:extLst>
              <a:ext uri="{28A0092B-C50C-407E-A947-70E740481C1C}">
                <a14:useLocalDpi xmlns:a14="http://schemas.microsoft.com/office/drawing/2010/main" val="0"/>
              </a:ext>
            </a:extLst>
          </a:blip>
          <a:srcRect t="24934" b="11812"/>
          <a:stretch/>
        </p:blipFill>
        <p:spPr>
          <a:xfrm>
            <a:off x="152908" y="75675"/>
            <a:ext cx="2688776" cy="935419"/>
          </a:xfrm>
          <a:prstGeom prst="rect">
            <a:avLst/>
          </a:prstGeom>
        </p:spPr>
      </p:pic>
      <p:pic>
        <p:nvPicPr>
          <p:cNvPr id="5" name="Content Placeholder 4">
            <a:extLst>
              <a:ext uri="{FF2B5EF4-FFF2-40B4-BE49-F238E27FC236}">
                <a16:creationId xmlns:a16="http://schemas.microsoft.com/office/drawing/2014/main" id="{A7A991B3-5B04-749A-70B1-A892BA3F81AF}"/>
              </a:ext>
            </a:extLst>
          </p:cNvPr>
          <p:cNvPicPr>
            <a:picLocks noGrp="1" noChangeAspect="1"/>
          </p:cNvPicPr>
          <p:nvPr>
            <p:ph idx="1"/>
          </p:nvPr>
        </p:nvPicPr>
        <p:blipFill>
          <a:blip r:embed="rId3"/>
          <a:stretch>
            <a:fillRect/>
          </a:stretch>
        </p:blipFill>
        <p:spPr>
          <a:xfrm>
            <a:off x="72040" y="3802117"/>
            <a:ext cx="4643244" cy="3055883"/>
          </a:xfrm>
          <a:prstGeom prst="rect">
            <a:avLst/>
          </a:prstGeom>
        </p:spPr>
      </p:pic>
      <p:sp>
        <p:nvSpPr>
          <p:cNvPr id="6" name="TextBox 5">
            <a:extLst>
              <a:ext uri="{FF2B5EF4-FFF2-40B4-BE49-F238E27FC236}">
                <a16:creationId xmlns:a16="http://schemas.microsoft.com/office/drawing/2014/main" id="{CFF60C58-45C5-27F8-4679-4C0FE48C7076}"/>
              </a:ext>
            </a:extLst>
          </p:cNvPr>
          <p:cNvSpPr txBox="1"/>
          <p:nvPr/>
        </p:nvSpPr>
        <p:spPr>
          <a:xfrm>
            <a:off x="520062" y="3420104"/>
            <a:ext cx="3520966" cy="400110"/>
          </a:xfrm>
          <a:prstGeom prst="rect">
            <a:avLst/>
          </a:prstGeom>
          <a:noFill/>
        </p:spPr>
        <p:txBody>
          <a:bodyPr wrap="square">
            <a:spAutoFit/>
          </a:bodyPr>
          <a:lstStyle/>
          <a:p>
            <a:r>
              <a:rPr lang="en-GB" sz="2000" b="1" dirty="0"/>
              <a:t>5 Top Institution and 5 bottom </a:t>
            </a:r>
          </a:p>
        </p:txBody>
      </p:sp>
      <p:pic>
        <p:nvPicPr>
          <p:cNvPr id="8" name="Picture 7">
            <a:extLst>
              <a:ext uri="{FF2B5EF4-FFF2-40B4-BE49-F238E27FC236}">
                <a16:creationId xmlns:a16="http://schemas.microsoft.com/office/drawing/2014/main" id="{FEDD245D-5E36-F2A7-465A-C81629F94130}"/>
              </a:ext>
            </a:extLst>
          </p:cNvPr>
          <p:cNvPicPr>
            <a:picLocks noChangeAspect="1"/>
          </p:cNvPicPr>
          <p:nvPr/>
        </p:nvPicPr>
        <p:blipFill>
          <a:blip r:embed="rId4"/>
          <a:stretch>
            <a:fillRect/>
          </a:stretch>
        </p:blipFill>
        <p:spPr>
          <a:xfrm>
            <a:off x="3331779" y="437949"/>
            <a:ext cx="4876801" cy="3060797"/>
          </a:xfrm>
          <a:prstGeom prst="rect">
            <a:avLst/>
          </a:prstGeom>
        </p:spPr>
      </p:pic>
      <p:sp>
        <p:nvSpPr>
          <p:cNvPr id="9" name="TextBox 8">
            <a:extLst>
              <a:ext uri="{FF2B5EF4-FFF2-40B4-BE49-F238E27FC236}">
                <a16:creationId xmlns:a16="http://schemas.microsoft.com/office/drawing/2014/main" id="{141D280B-8A36-E5CB-B5DB-F74F60016E0A}"/>
              </a:ext>
            </a:extLst>
          </p:cNvPr>
          <p:cNvSpPr txBox="1"/>
          <p:nvPr/>
        </p:nvSpPr>
        <p:spPr>
          <a:xfrm>
            <a:off x="3756681" y="75675"/>
            <a:ext cx="4026996" cy="400110"/>
          </a:xfrm>
          <a:prstGeom prst="rect">
            <a:avLst/>
          </a:prstGeom>
          <a:noFill/>
        </p:spPr>
        <p:txBody>
          <a:bodyPr wrap="square">
            <a:spAutoFit/>
          </a:bodyPr>
          <a:lstStyle/>
          <a:p>
            <a:r>
              <a:rPr lang="en-GB" sz="2000" b="1" dirty="0"/>
              <a:t>Cathedral University Group</a:t>
            </a:r>
          </a:p>
        </p:txBody>
      </p:sp>
      <p:pic>
        <p:nvPicPr>
          <p:cNvPr id="13" name="Picture 12">
            <a:extLst>
              <a:ext uri="{FF2B5EF4-FFF2-40B4-BE49-F238E27FC236}">
                <a16:creationId xmlns:a16="http://schemas.microsoft.com/office/drawing/2014/main" id="{2BEA3235-51C1-F5C5-EC7C-77879BBFCD73}"/>
              </a:ext>
            </a:extLst>
          </p:cNvPr>
          <p:cNvPicPr>
            <a:picLocks noChangeAspect="1"/>
          </p:cNvPicPr>
          <p:nvPr/>
        </p:nvPicPr>
        <p:blipFill>
          <a:blip r:embed="rId5"/>
          <a:stretch>
            <a:fillRect/>
          </a:stretch>
        </p:blipFill>
        <p:spPr>
          <a:xfrm>
            <a:off x="7354286" y="3715766"/>
            <a:ext cx="4765674" cy="3142234"/>
          </a:xfrm>
          <a:prstGeom prst="rect">
            <a:avLst/>
          </a:prstGeom>
        </p:spPr>
      </p:pic>
      <p:sp>
        <p:nvSpPr>
          <p:cNvPr id="14" name="TextBox 13">
            <a:extLst>
              <a:ext uri="{FF2B5EF4-FFF2-40B4-BE49-F238E27FC236}">
                <a16:creationId xmlns:a16="http://schemas.microsoft.com/office/drawing/2014/main" id="{A0609CD2-D53D-E641-87D6-195533A33E21}"/>
              </a:ext>
            </a:extLst>
          </p:cNvPr>
          <p:cNvSpPr txBox="1"/>
          <p:nvPr/>
        </p:nvSpPr>
        <p:spPr>
          <a:xfrm>
            <a:off x="8165004" y="3402007"/>
            <a:ext cx="4026996" cy="400110"/>
          </a:xfrm>
          <a:prstGeom prst="rect">
            <a:avLst/>
          </a:prstGeom>
          <a:noFill/>
        </p:spPr>
        <p:txBody>
          <a:bodyPr wrap="square">
            <a:spAutoFit/>
          </a:bodyPr>
          <a:lstStyle/>
          <a:p>
            <a:r>
              <a:rPr lang="en-GB" sz="2000" b="1" dirty="0"/>
              <a:t>West Midland Region</a:t>
            </a:r>
          </a:p>
        </p:txBody>
      </p:sp>
      <p:sp>
        <p:nvSpPr>
          <p:cNvPr id="15" name="Arrow: Left 14">
            <a:extLst>
              <a:ext uri="{FF2B5EF4-FFF2-40B4-BE49-F238E27FC236}">
                <a16:creationId xmlns:a16="http://schemas.microsoft.com/office/drawing/2014/main" id="{238B86A3-D4C0-0831-5B4D-565D097F3CD2}"/>
              </a:ext>
            </a:extLst>
          </p:cNvPr>
          <p:cNvSpPr/>
          <p:nvPr/>
        </p:nvSpPr>
        <p:spPr>
          <a:xfrm>
            <a:off x="4811035" y="5330058"/>
            <a:ext cx="815833" cy="307672"/>
          </a:xfrm>
          <a:prstGeom prst="leftArrow">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Arrow: Right 17">
            <a:extLst>
              <a:ext uri="{FF2B5EF4-FFF2-40B4-BE49-F238E27FC236}">
                <a16:creationId xmlns:a16="http://schemas.microsoft.com/office/drawing/2014/main" id="{8F5574E1-3991-8121-8D3A-91E92F8F1F19}"/>
              </a:ext>
            </a:extLst>
          </p:cNvPr>
          <p:cNvSpPr/>
          <p:nvPr/>
        </p:nvSpPr>
        <p:spPr>
          <a:xfrm>
            <a:off x="6347437" y="6615684"/>
            <a:ext cx="934809" cy="242316"/>
          </a:xfrm>
          <a:prstGeom prst="rightArrow">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Right 18">
            <a:extLst>
              <a:ext uri="{FF2B5EF4-FFF2-40B4-BE49-F238E27FC236}">
                <a16:creationId xmlns:a16="http://schemas.microsoft.com/office/drawing/2014/main" id="{9D5C7415-A173-B8F5-CE03-D42DC53F7F7A}"/>
              </a:ext>
            </a:extLst>
          </p:cNvPr>
          <p:cNvSpPr/>
          <p:nvPr/>
        </p:nvSpPr>
        <p:spPr>
          <a:xfrm>
            <a:off x="2480569" y="3233245"/>
            <a:ext cx="722230" cy="186859"/>
          </a:xfrm>
          <a:prstGeom prst="rightArrow">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Left Brace 1">
            <a:extLst>
              <a:ext uri="{FF2B5EF4-FFF2-40B4-BE49-F238E27FC236}">
                <a16:creationId xmlns:a16="http://schemas.microsoft.com/office/drawing/2014/main" id="{4ACD0694-122F-39AF-8DE2-CD34AF7CCC9D}"/>
              </a:ext>
            </a:extLst>
          </p:cNvPr>
          <p:cNvSpPr/>
          <p:nvPr/>
        </p:nvSpPr>
        <p:spPr>
          <a:xfrm>
            <a:off x="2676526" y="866774"/>
            <a:ext cx="526274" cy="2366471"/>
          </a:xfrm>
          <a:prstGeom prst="leftBrace">
            <a:avLst/>
          </a:prstGeom>
          <a:noFill/>
          <a:ln w="38100">
            <a:solidFill>
              <a:schemeClr val="tx1"/>
            </a:solidFill>
            <a:headEnd type="triangl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ln w="0"/>
              <a:solidFill>
                <a:sysClr val="windowText" lastClr="000000"/>
              </a:solidFill>
              <a:effectLst>
                <a:outerShdw blurRad="38100" dist="19050" dir="2700000" algn="tl" rotWithShape="0">
                  <a:schemeClr val="dk1">
                    <a:alpha val="40000"/>
                  </a:schemeClr>
                </a:outerShdw>
              </a:effectLst>
            </a:endParaRPr>
          </a:p>
        </p:txBody>
      </p:sp>
      <p:sp>
        <p:nvSpPr>
          <p:cNvPr id="3" name="Left Brace 2">
            <a:extLst>
              <a:ext uri="{FF2B5EF4-FFF2-40B4-BE49-F238E27FC236}">
                <a16:creationId xmlns:a16="http://schemas.microsoft.com/office/drawing/2014/main" id="{AD50D8A3-8BE5-6F88-5217-E086EC67018D}"/>
              </a:ext>
            </a:extLst>
          </p:cNvPr>
          <p:cNvSpPr/>
          <p:nvPr/>
        </p:nvSpPr>
        <p:spPr>
          <a:xfrm>
            <a:off x="6732747" y="4076701"/>
            <a:ext cx="526274" cy="2538984"/>
          </a:xfrm>
          <a:prstGeom prst="leftBrace">
            <a:avLst>
              <a:gd name="adj1" fmla="val 8333"/>
              <a:gd name="adj2" fmla="val 30867"/>
            </a:avLst>
          </a:prstGeom>
          <a:noFill/>
          <a:ln w="38100">
            <a:solidFill>
              <a:schemeClr val="tx1"/>
            </a:solidFill>
            <a:headEnd type="triangl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ln w="0"/>
              <a:solidFill>
                <a:sysClr val="windowText" lastClr="000000"/>
              </a:solidFill>
              <a:effectLst>
                <a:outerShdw blurRad="38100" dist="19050" dir="2700000" algn="tl" rotWithShape="0">
                  <a:schemeClr val="dk1">
                    <a:alpha val="40000"/>
                  </a:schemeClr>
                </a:outerShdw>
              </a:effectLst>
            </a:endParaRPr>
          </a:p>
        </p:txBody>
      </p:sp>
      <p:sp>
        <p:nvSpPr>
          <p:cNvPr id="10" name="Right Brace 9">
            <a:extLst>
              <a:ext uri="{FF2B5EF4-FFF2-40B4-BE49-F238E27FC236}">
                <a16:creationId xmlns:a16="http://schemas.microsoft.com/office/drawing/2014/main" id="{59D736F8-70F8-C9A7-1BCE-BECFE1783EDA}"/>
              </a:ext>
            </a:extLst>
          </p:cNvPr>
          <p:cNvSpPr/>
          <p:nvPr/>
        </p:nvSpPr>
        <p:spPr>
          <a:xfrm>
            <a:off x="4810549" y="4149974"/>
            <a:ext cx="461495" cy="1180084"/>
          </a:xfrm>
          <a:prstGeom prst="rightBrace">
            <a:avLst>
              <a:gd name="adj1" fmla="val 8333"/>
              <a:gd name="adj2" fmla="val 58071"/>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1" name="Right Brace 10">
            <a:extLst>
              <a:ext uri="{FF2B5EF4-FFF2-40B4-BE49-F238E27FC236}">
                <a16:creationId xmlns:a16="http://schemas.microsoft.com/office/drawing/2014/main" id="{370662FD-7EDC-9BFF-F1FD-BC055C572AB8}"/>
              </a:ext>
            </a:extLst>
          </p:cNvPr>
          <p:cNvSpPr/>
          <p:nvPr/>
        </p:nvSpPr>
        <p:spPr>
          <a:xfrm>
            <a:off x="4787324" y="5677916"/>
            <a:ext cx="461495" cy="1104409"/>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6" name="TextBox 15">
            <a:extLst>
              <a:ext uri="{FF2B5EF4-FFF2-40B4-BE49-F238E27FC236}">
                <a16:creationId xmlns:a16="http://schemas.microsoft.com/office/drawing/2014/main" id="{2A458631-86AB-A9DE-E2EB-1EDAB8192A42}"/>
              </a:ext>
            </a:extLst>
          </p:cNvPr>
          <p:cNvSpPr txBox="1"/>
          <p:nvPr/>
        </p:nvSpPr>
        <p:spPr>
          <a:xfrm>
            <a:off x="685220" y="1819177"/>
            <a:ext cx="2156464" cy="461665"/>
          </a:xfrm>
          <a:prstGeom prst="rect">
            <a:avLst/>
          </a:prstGeom>
          <a:noFill/>
        </p:spPr>
        <p:txBody>
          <a:bodyPr wrap="square" rtlCol="0">
            <a:spAutoFit/>
          </a:bodyPr>
          <a:lstStyle/>
          <a:p>
            <a:r>
              <a:rPr lang="en-GB" sz="2400" b="1" dirty="0"/>
              <a:t>Competitors </a:t>
            </a:r>
          </a:p>
        </p:txBody>
      </p:sp>
      <p:sp>
        <p:nvSpPr>
          <p:cNvPr id="17" name="TextBox 16">
            <a:extLst>
              <a:ext uri="{FF2B5EF4-FFF2-40B4-BE49-F238E27FC236}">
                <a16:creationId xmlns:a16="http://schemas.microsoft.com/office/drawing/2014/main" id="{534AB741-C1AD-CE73-997B-E4DBA99486E3}"/>
              </a:ext>
            </a:extLst>
          </p:cNvPr>
          <p:cNvSpPr txBox="1"/>
          <p:nvPr/>
        </p:nvSpPr>
        <p:spPr>
          <a:xfrm>
            <a:off x="5288308" y="4653054"/>
            <a:ext cx="1632154" cy="369332"/>
          </a:xfrm>
          <a:prstGeom prst="rect">
            <a:avLst/>
          </a:prstGeom>
          <a:noFill/>
        </p:spPr>
        <p:txBody>
          <a:bodyPr wrap="square" rtlCol="0">
            <a:spAutoFit/>
          </a:bodyPr>
          <a:lstStyle/>
          <a:p>
            <a:r>
              <a:rPr lang="en-GB" b="1" dirty="0"/>
              <a:t>Competitors </a:t>
            </a:r>
          </a:p>
        </p:txBody>
      </p:sp>
      <p:sp>
        <p:nvSpPr>
          <p:cNvPr id="20" name="TextBox 19">
            <a:extLst>
              <a:ext uri="{FF2B5EF4-FFF2-40B4-BE49-F238E27FC236}">
                <a16:creationId xmlns:a16="http://schemas.microsoft.com/office/drawing/2014/main" id="{C46A05F8-C4AF-A516-E14F-3A652F06F4D1}"/>
              </a:ext>
            </a:extLst>
          </p:cNvPr>
          <p:cNvSpPr txBox="1"/>
          <p:nvPr/>
        </p:nvSpPr>
        <p:spPr>
          <a:xfrm>
            <a:off x="5218951" y="6035613"/>
            <a:ext cx="2156464" cy="400110"/>
          </a:xfrm>
          <a:prstGeom prst="rect">
            <a:avLst/>
          </a:prstGeom>
          <a:noFill/>
        </p:spPr>
        <p:txBody>
          <a:bodyPr wrap="square" rtlCol="0">
            <a:spAutoFit/>
          </a:bodyPr>
          <a:lstStyle/>
          <a:p>
            <a:r>
              <a:rPr lang="en-GB" sz="2000" b="1" dirty="0"/>
              <a:t>Competitors </a:t>
            </a:r>
          </a:p>
        </p:txBody>
      </p:sp>
    </p:spTree>
    <p:extLst>
      <p:ext uri="{BB962C8B-B14F-4D97-AF65-F5344CB8AC3E}">
        <p14:creationId xmlns:p14="http://schemas.microsoft.com/office/powerpoint/2010/main" val="447609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407978-B512-09F7-90B2-3A409B36F9D6}"/>
              </a:ext>
            </a:extLst>
          </p:cNvPr>
          <p:cNvSpPr txBox="1"/>
          <p:nvPr/>
        </p:nvSpPr>
        <p:spPr>
          <a:xfrm>
            <a:off x="314325" y="219372"/>
            <a:ext cx="6429375" cy="461665"/>
          </a:xfrm>
          <a:prstGeom prst="rect">
            <a:avLst/>
          </a:prstGeom>
          <a:noFill/>
        </p:spPr>
        <p:txBody>
          <a:bodyPr wrap="square" rtlCol="0">
            <a:spAutoFit/>
          </a:bodyPr>
          <a:lstStyle/>
          <a:p>
            <a:r>
              <a:rPr lang="en-GB" sz="2400" b="1" dirty="0"/>
              <a:t>DASHBOARD – Competitors 5 top/5 bottom </a:t>
            </a:r>
          </a:p>
        </p:txBody>
      </p:sp>
      <p:pic>
        <p:nvPicPr>
          <p:cNvPr id="7" name="Content Placeholder 6">
            <a:extLst>
              <a:ext uri="{FF2B5EF4-FFF2-40B4-BE49-F238E27FC236}">
                <a16:creationId xmlns:a16="http://schemas.microsoft.com/office/drawing/2014/main" id="{5B757C25-5B9F-314D-D87B-1F5ACE1268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7152" y="857251"/>
            <a:ext cx="9891823" cy="5591388"/>
          </a:xfrm>
        </p:spPr>
      </p:pic>
    </p:spTree>
    <p:extLst>
      <p:ext uri="{BB962C8B-B14F-4D97-AF65-F5344CB8AC3E}">
        <p14:creationId xmlns:p14="http://schemas.microsoft.com/office/powerpoint/2010/main" val="1459160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1E306B4-2A97-0ABE-5579-BA5EC65BFA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850" y="800835"/>
            <a:ext cx="9772650" cy="5499159"/>
          </a:xfrm>
        </p:spPr>
      </p:pic>
      <p:sp>
        <p:nvSpPr>
          <p:cNvPr id="4" name="TextBox 3">
            <a:extLst>
              <a:ext uri="{FF2B5EF4-FFF2-40B4-BE49-F238E27FC236}">
                <a16:creationId xmlns:a16="http://schemas.microsoft.com/office/drawing/2014/main" id="{E5F532B0-4B06-EB73-B530-6FDE86E897FC}"/>
              </a:ext>
            </a:extLst>
          </p:cNvPr>
          <p:cNvSpPr txBox="1"/>
          <p:nvPr/>
        </p:nvSpPr>
        <p:spPr>
          <a:xfrm>
            <a:off x="457200" y="143172"/>
            <a:ext cx="6429375" cy="461665"/>
          </a:xfrm>
          <a:prstGeom prst="rect">
            <a:avLst/>
          </a:prstGeom>
          <a:noFill/>
        </p:spPr>
        <p:txBody>
          <a:bodyPr wrap="square" rtlCol="0">
            <a:spAutoFit/>
          </a:bodyPr>
          <a:lstStyle/>
          <a:p>
            <a:r>
              <a:rPr lang="en-GB" sz="2400" b="1" dirty="0"/>
              <a:t>DASHBOARD – Cathedral University Group </a:t>
            </a:r>
          </a:p>
        </p:txBody>
      </p:sp>
    </p:spTree>
    <p:extLst>
      <p:ext uri="{BB962C8B-B14F-4D97-AF65-F5344CB8AC3E}">
        <p14:creationId xmlns:p14="http://schemas.microsoft.com/office/powerpoint/2010/main" val="2981598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89EE941A-5371-1698-FCD2-C371803528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2974" y="1161027"/>
            <a:ext cx="10163176" cy="5596168"/>
          </a:xfrm>
        </p:spPr>
      </p:pic>
      <p:sp>
        <p:nvSpPr>
          <p:cNvPr id="7" name="TextBox 6">
            <a:extLst>
              <a:ext uri="{FF2B5EF4-FFF2-40B4-BE49-F238E27FC236}">
                <a16:creationId xmlns:a16="http://schemas.microsoft.com/office/drawing/2014/main" id="{FEDC4BA6-6BEE-B24C-BFAD-DA192135C037}"/>
              </a:ext>
            </a:extLst>
          </p:cNvPr>
          <p:cNvSpPr txBox="1"/>
          <p:nvPr/>
        </p:nvSpPr>
        <p:spPr>
          <a:xfrm>
            <a:off x="838200" y="552747"/>
            <a:ext cx="6800850" cy="461665"/>
          </a:xfrm>
          <a:prstGeom prst="rect">
            <a:avLst/>
          </a:prstGeom>
          <a:noFill/>
        </p:spPr>
        <p:txBody>
          <a:bodyPr wrap="square" rtlCol="0">
            <a:spAutoFit/>
          </a:bodyPr>
          <a:lstStyle/>
          <a:p>
            <a:r>
              <a:rPr lang="en-GB" sz="2400" b="1" dirty="0"/>
              <a:t>DASHBOARD – Competitors West Midlands Region </a:t>
            </a:r>
          </a:p>
        </p:txBody>
      </p:sp>
    </p:spTree>
    <p:extLst>
      <p:ext uri="{BB962C8B-B14F-4D97-AF65-F5344CB8AC3E}">
        <p14:creationId xmlns:p14="http://schemas.microsoft.com/office/powerpoint/2010/main" val="215016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2217F0B-1671-AF41-0F70-CD21F8552D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0550" y="1015769"/>
            <a:ext cx="9505950" cy="5338200"/>
          </a:xfrm>
        </p:spPr>
      </p:pic>
      <p:sp>
        <p:nvSpPr>
          <p:cNvPr id="4" name="TextBox 3">
            <a:extLst>
              <a:ext uri="{FF2B5EF4-FFF2-40B4-BE49-F238E27FC236}">
                <a16:creationId xmlns:a16="http://schemas.microsoft.com/office/drawing/2014/main" id="{B4DBF449-9D8D-3356-D257-7BD197490ADC}"/>
              </a:ext>
            </a:extLst>
          </p:cNvPr>
          <p:cNvSpPr txBox="1"/>
          <p:nvPr/>
        </p:nvSpPr>
        <p:spPr>
          <a:xfrm>
            <a:off x="409575" y="362247"/>
            <a:ext cx="6429375" cy="461665"/>
          </a:xfrm>
          <a:prstGeom prst="rect">
            <a:avLst/>
          </a:prstGeom>
          <a:noFill/>
        </p:spPr>
        <p:txBody>
          <a:bodyPr wrap="square" rtlCol="0">
            <a:spAutoFit/>
          </a:bodyPr>
          <a:lstStyle/>
          <a:p>
            <a:r>
              <a:rPr lang="en-GB" sz="2400" b="1" dirty="0"/>
              <a:t>DASHBOARD – Metric Comparison </a:t>
            </a:r>
          </a:p>
        </p:txBody>
      </p:sp>
    </p:spTree>
    <p:extLst>
      <p:ext uri="{BB962C8B-B14F-4D97-AF65-F5344CB8AC3E}">
        <p14:creationId xmlns:p14="http://schemas.microsoft.com/office/powerpoint/2010/main" val="3402347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00B8178-CA07-D6B5-4E1D-C2B779D36B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3068"/>
            <a:ext cx="10749802" cy="3298032"/>
          </a:xfrm>
        </p:spPr>
      </p:pic>
      <p:sp>
        <p:nvSpPr>
          <p:cNvPr id="4" name="Title 3">
            <a:extLst>
              <a:ext uri="{FF2B5EF4-FFF2-40B4-BE49-F238E27FC236}">
                <a16:creationId xmlns:a16="http://schemas.microsoft.com/office/drawing/2014/main" id="{72C314C5-9560-CBDC-EC3D-F6573A7DCACC}"/>
              </a:ext>
            </a:extLst>
          </p:cNvPr>
          <p:cNvSpPr txBox="1">
            <a:spLocks noGrp="1"/>
          </p:cNvSpPr>
          <p:nvPr>
            <p:ph type="title"/>
          </p:nvPr>
        </p:nvSpPr>
        <p:spPr>
          <a:xfrm>
            <a:off x="838200" y="815540"/>
            <a:ext cx="10515600" cy="424732"/>
          </a:xfrm>
          <a:prstGeom prst="rect">
            <a:avLst/>
          </a:prstGeom>
          <a:noFill/>
        </p:spPr>
        <p:txBody>
          <a:bodyPr wrap="square" rtlCol="0">
            <a:spAutoFit/>
          </a:bodyPr>
          <a:lstStyle/>
          <a:p>
            <a:r>
              <a:rPr lang="en-GB" sz="2400" b="1" dirty="0"/>
              <a:t>DASHBOARD – Courses and Subjects</a:t>
            </a:r>
          </a:p>
        </p:txBody>
      </p:sp>
    </p:spTree>
    <p:extLst>
      <p:ext uri="{BB962C8B-B14F-4D97-AF65-F5344CB8AC3E}">
        <p14:creationId xmlns:p14="http://schemas.microsoft.com/office/powerpoint/2010/main" val="2588550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51649-C1C8-0A17-8C22-B7C087E06D7E}"/>
              </a:ext>
            </a:extLst>
          </p:cNvPr>
          <p:cNvSpPr>
            <a:spLocks noGrp="1"/>
          </p:cNvSpPr>
          <p:nvPr>
            <p:ph type="title"/>
          </p:nvPr>
        </p:nvSpPr>
        <p:spPr>
          <a:xfrm>
            <a:off x="147145" y="1027906"/>
            <a:ext cx="11435255" cy="935419"/>
          </a:xfrm>
        </p:spPr>
        <p:txBody>
          <a:bodyPr>
            <a:normAutofit/>
          </a:bodyPr>
          <a:lstStyle/>
          <a:p>
            <a:r>
              <a:rPr lang="en-GB" sz="2800" b="1" dirty="0">
                <a:effectLst/>
                <a:latin typeface="Calibri" panose="020F0502020204030204" pitchFamily="34" charset="0"/>
                <a:ea typeface="Calibri" panose="020F0502020204030204" pitchFamily="34" charset="0"/>
                <a:cs typeface="Times New Roman" panose="02020603050405020304" pitchFamily="18" charset="0"/>
              </a:rPr>
              <a:t>What metrics does Newman do well in and what metrics not so well in?</a:t>
            </a:r>
            <a:endParaRPr lang="en-GB" sz="2800" b="1" dirty="0"/>
          </a:p>
        </p:txBody>
      </p:sp>
      <p:sp>
        <p:nvSpPr>
          <p:cNvPr id="3" name="Content Placeholder 2">
            <a:extLst>
              <a:ext uri="{FF2B5EF4-FFF2-40B4-BE49-F238E27FC236}">
                <a16:creationId xmlns:a16="http://schemas.microsoft.com/office/drawing/2014/main" id="{21B6CFF1-1AEF-95D9-34C1-702ED4319EB6}"/>
              </a:ext>
            </a:extLst>
          </p:cNvPr>
          <p:cNvSpPr>
            <a:spLocks noGrp="1"/>
          </p:cNvSpPr>
          <p:nvPr>
            <p:ph idx="1"/>
          </p:nvPr>
        </p:nvSpPr>
        <p:spPr>
          <a:xfrm>
            <a:off x="147145" y="2057400"/>
            <a:ext cx="11978179" cy="4800600"/>
          </a:xfrm>
        </p:spPr>
        <p:txBody>
          <a:bodyPr>
            <a:normAutofit/>
          </a:bodyPr>
          <a:lstStyle/>
          <a:p>
            <a:pPr marL="0" indent="0">
              <a:buNone/>
            </a:pPr>
            <a:r>
              <a:rPr lang="en-GB" sz="2400" dirty="0"/>
              <a:t>According to the analysis using the mean of other Institutions metrics comparing to Newman’s metrics score</a:t>
            </a:r>
            <a:br>
              <a:rPr lang="en-GB" sz="2400" dirty="0"/>
            </a:br>
            <a:r>
              <a:rPr lang="en-GB" sz="2400" dirty="0"/>
              <a:t>It was observed that Newman University  performed </a:t>
            </a:r>
            <a:r>
              <a:rPr lang="en-GB" sz="2400" b="1" dirty="0"/>
              <a:t>so well </a:t>
            </a:r>
            <a:r>
              <a:rPr lang="en-GB" sz="2400" dirty="0"/>
              <a:t>in</a:t>
            </a:r>
            <a:br>
              <a:rPr lang="en-GB" sz="2400" dirty="0"/>
            </a:br>
            <a:br>
              <a:rPr lang="en-GB" sz="2400" dirty="0"/>
            </a:br>
            <a:r>
              <a:rPr lang="en-GB" sz="2400" b="1" dirty="0">
                <a:solidFill>
                  <a:srgbClr val="C00000"/>
                </a:solidFill>
              </a:rPr>
              <a:t>Student satisfaction </a:t>
            </a:r>
            <a:r>
              <a:rPr lang="en-GB" sz="2400" dirty="0"/>
              <a:t>– </a:t>
            </a:r>
            <a:r>
              <a:rPr lang="en-GB" sz="2400" b="1" dirty="0"/>
              <a:t>3.97</a:t>
            </a:r>
            <a:r>
              <a:rPr lang="en-GB" sz="2400" dirty="0"/>
              <a:t> out of 3.90 (Average of other Institution)</a:t>
            </a:r>
            <a:r>
              <a:rPr lang="en-GB" sz="2400" b="1" dirty="0"/>
              <a:t>| </a:t>
            </a:r>
            <a:r>
              <a:rPr lang="en-GB" sz="2400" b="1" dirty="0">
                <a:solidFill>
                  <a:srgbClr val="C00000"/>
                </a:solidFill>
              </a:rPr>
              <a:t>Max 5</a:t>
            </a:r>
            <a:br>
              <a:rPr lang="en-GB" sz="2400" dirty="0"/>
            </a:br>
            <a:r>
              <a:rPr lang="en-GB" sz="2400" b="1" dirty="0">
                <a:solidFill>
                  <a:srgbClr val="C00000"/>
                </a:solidFill>
              </a:rPr>
              <a:t>Degree Completion </a:t>
            </a:r>
            <a:r>
              <a:rPr lang="en-GB" sz="2400" dirty="0"/>
              <a:t>– </a:t>
            </a:r>
            <a:r>
              <a:rPr lang="en-GB" sz="2400" b="1" dirty="0"/>
              <a:t>79.70</a:t>
            </a:r>
            <a:r>
              <a:rPr lang="en-GB" sz="2400" dirty="0"/>
              <a:t> out of 87.30(Average of other Institution)</a:t>
            </a:r>
            <a:r>
              <a:rPr lang="en-GB" sz="2400" b="1" dirty="0"/>
              <a:t>|</a:t>
            </a:r>
            <a:r>
              <a:rPr lang="en-GB" sz="2400" dirty="0"/>
              <a:t> </a:t>
            </a:r>
            <a:r>
              <a:rPr lang="en-GB" sz="2400" b="1" dirty="0">
                <a:solidFill>
                  <a:srgbClr val="C00000"/>
                </a:solidFill>
              </a:rPr>
              <a:t>Max 100</a:t>
            </a:r>
            <a:br>
              <a:rPr lang="en-GB" sz="2400" dirty="0"/>
            </a:br>
            <a:r>
              <a:rPr lang="en-GB" sz="2400" b="1" dirty="0">
                <a:solidFill>
                  <a:srgbClr val="C00000"/>
                </a:solidFill>
              </a:rPr>
              <a:t>Graduate Prospects on track </a:t>
            </a:r>
            <a:r>
              <a:rPr lang="en-GB" sz="2400" dirty="0"/>
              <a:t>-</a:t>
            </a:r>
            <a:r>
              <a:rPr lang="en-GB" sz="2400" b="1" dirty="0"/>
              <a:t>72.8</a:t>
            </a:r>
            <a:r>
              <a:rPr lang="en-GB" sz="2400" dirty="0"/>
              <a:t> out 0f 73.40(Average of other Institution)</a:t>
            </a:r>
            <a:r>
              <a:rPr lang="en-GB" sz="2400" b="1" dirty="0"/>
              <a:t>|</a:t>
            </a:r>
            <a:r>
              <a:rPr lang="en-GB" sz="2400" dirty="0"/>
              <a:t> </a:t>
            </a:r>
            <a:r>
              <a:rPr lang="en-GB" sz="2400" b="1" dirty="0">
                <a:solidFill>
                  <a:srgbClr val="C00000"/>
                </a:solidFill>
              </a:rPr>
              <a:t>Max 100</a:t>
            </a:r>
            <a:br>
              <a:rPr lang="en-GB" sz="2400" dirty="0"/>
            </a:br>
            <a:br>
              <a:rPr lang="en-GB" sz="2400" dirty="0"/>
            </a:br>
            <a:r>
              <a:rPr lang="en-GB" sz="2400" b="0" i="0" dirty="0">
                <a:solidFill>
                  <a:srgbClr val="111111"/>
                </a:solidFill>
                <a:effectLst/>
              </a:rPr>
              <a:t>However, Newman University did </a:t>
            </a:r>
            <a:r>
              <a:rPr lang="en-GB" sz="2400" b="1" i="0" dirty="0">
                <a:solidFill>
                  <a:srgbClr val="111111"/>
                </a:solidFill>
                <a:effectLst/>
              </a:rPr>
              <a:t>not perform as well in </a:t>
            </a:r>
            <a:br>
              <a:rPr lang="en-GB" sz="2400" b="0" i="0" dirty="0">
                <a:solidFill>
                  <a:srgbClr val="111111"/>
                </a:solidFill>
                <a:effectLst/>
              </a:rPr>
            </a:br>
            <a:r>
              <a:rPr lang="en-GB" sz="2400" b="1" i="0" dirty="0">
                <a:solidFill>
                  <a:srgbClr val="111111"/>
                </a:solidFill>
                <a:effectLst/>
              </a:rPr>
              <a:t>Facilities spend </a:t>
            </a:r>
            <a:br>
              <a:rPr lang="en-GB" sz="2400" b="1" i="0" dirty="0">
                <a:solidFill>
                  <a:srgbClr val="111111"/>
                </a:solidFill>
                <a:effectLst/>
              </a:rPr>
            </a:br>
            <a:r>
              <a:rPr lang="en-GB" sz="2400" b="1" i="0" dirty="0">
                <a:solidFill>
                  <a:srgbClr val="111111"/>
                </a:solidFill>
                <a:effectLst/>
              </a:rPr>
              <a:t>Student-staff ratio metrics</a:t>
            </a:r>
            <a:br>
              <a:rPr lang="en-GB" sz="2400" b="1" i="0" dirty="0">
                <a:solidFill>
                  <a:srgbClr val="111111"/>
                </a:solidFill>
                <a:effectLst/>
              </a:rPr>
            </a:br>
            <a:r>
              <a:rPr lang="en-GB" sz="2400" b="1" i="0" dirty="0">
                <a:solidFill>
                  <a:srgbClr val="111111"/>
                </a:solidFill>
                <a:effectLst/>
              </a:rPr>
              <a:t>Research quality</a:t>
            </a:r>
            <a:br>
              <a:rPr lang="en-GB" sz="2400" b="1" i="0" dirty="0">
                <a:solidFill>
                  <a:srgbClr val="111111"/>
                </a:solidFill>
                <a:effectLst/>
              </a:rPr>
            </a:br>
            <a:r>
              <a:rPr lang="en-GB" sz="2400" b="1" i="0" dirty="0">
                <a:solidFill>
                  <a:srgbClr val="111111"/>
                </a:solidFill>
                <a:effectLst/>
              </a:rPr>
              <a:t>Graduate Prospects on outcomes.</a:t>
            </a:r>
            <a:endParaRPr lang="en-GB" sz="2400" b="1" dirty="0"/>
          </a:p>
        </p:txBody>
      </p:sp>
      <p:pic>
        <p:nvPicPr>
          <p:cNvPr id="6" name="Picture 5" descr="A picture containing text, font, logo, symbol">
            <a:extLst>
              <a:ext uri="{FF2B5EF4-FFF2-40B4-BE49-F238E27FC236}">
                <a16:creationId xmlns:a16="http://schemas.microsoft.com/office/drawing/2014/main" id="{0ED1FAE3-4B51-1CF4-8109-23C657FB16FC}"/>
              </a:ext>
            </a:extLst>
          </p:cNvPr>
          <p:cNvPicPr>
            <a:picLocks noChangeAspect="1"/>
          </p:cNvPicPr>
          <p:nvPr/>
        </p:nvPicPr>
        <p:blipFill rotWithShape="1">
          <a:blip r:embed="rId2">
            <a:extLst>
              <a:ext uri="{28A0092B-C50C-407E-A947-70E740481C1C}">
                <a14:useLocalDpi xmlns:a14="http://schemas.microsoft.com/office/drawing/2010/main" val="0"/>
              </a:ext>
            </a:extLst>
          </a:blip>
          <a:srcRect t="24934" b="11812"/>
          <a:stretch/>
        </p:blipFill>
        <p:spPr>
          <a:xfrm>
            <a:off x="147145" y="92487"/>
            <a:ext cx="2688776" cy="935419"/>
          </a:xfrm>
          <a:prstGeom prst="rect">
            <a:avLst/>
          </a:prstGeom>
        </p:spPr>
      </p:pic>
    </p:spTree>
    <p:extLst>
      <p:ext uri="{BB962C8B-B14F-4D97-AF65-F5344CB8AC3E}">
        <p14:creationId xmlns:p14="http://schemas.microsoft.com/office/powerpoint/2010/main" val="3527105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DCD9-8A2C-7378-D00A-5B773869C99D}"/>
              </a:ext>
            </a:extLst>
          </p:cNvPr>
          <p:cNvSpPr>
            <a:spLocks noGrp="1"/>
          </p:cNvSpPr>
          <p:nvPr>
            <p:ph type="title"/>
          </p:nvPr>
        </p:nvSpPr>
        <p:spPr>
          <a:xfrm>
            <a:off x="647700" y="1259521"/>
            <a:ext cx="11010900" cy="1325563"/>
          </a:xfrm>
        </p:spPr>
        <p:txBody>
          <a:bodyPr>
            <a:normAutofit/>
          </a:bodyPr>
          <a:lstStyle/>
          <a:p>
            <a:r>
              <a:rPr lang="en-GB" sz="2400" b="1" dirty="0">
                <a:effectLst/>
                <a:latin typeface="Calibri" panose="020F0502020204030204" pitchFamily="34" charset="0"/>
                <a:ea typeface="Calibri" panose="020F0502020204030204" pitchFamily="34" charset="0"/>
                <a:cs typeface="Times New Roman" panose="02020603050405020304" pitchFamily="18" charset="0"/>
              </a:rPr>
              <a:t>What unique feature is included in the CUG league table as asked in the Graduate Outcomes survey?</a:t>
            </a:r>
            <a:br>
              <a:rPr lang="en-GB" sz="2400" b="1" dirty="0">
                <a:effectLst/>
                <a:latin typeface="Calibri" panose="020F0502020204030204" pitchFamily="34" charset="0"/>
                <a:ea typeface="Calibri" panose="020F0502020204030204" pitchFamily="34" charset="0"/>
                <a:cs typeface="Times New Roman" panose="02020603050405020304" pitchFamily="18" charset="0"/>
              </a:rPr>
            </a:br>
            <a:endParaRPr lang="en-GB" sz="2400" b="1" dirty="0"/>
          </a:p>
        </p:txBody>
      </p:sp>
      <p:sp>
        <p:nvSpPr>
          <p:cNvPr id="3" name="Content Placeholder 2">
            <a:extLst>
              <a:ext uri="{FF2B5EF4-FFF2-40B4-BE49-F238E27FC236}">
                <a16:creationId xmlns:a16="http://schemas.microsoft.com/office/drawing/2014/main" id="{EB103C62-CB00-357D-C800-E0E55F749B9F}"/>
              </a:ext>
            </a:extLst>
          </p:cNvPr>
          <p:cNvSpPr>
            <a:spLocks noGrp="1"/>
          </p:cNvSpPr>
          <p:nvPr>
            <p:ph idx="1"/>
          </p:nvPr>
        </p:nvSpPr>
        <p:spPr>
          <a:xfrm>
            <a:off x="647700" y="2732228"/>
            <a:ext cx="10382250" cy="3116121"/>
          </a:xfrm>
        </p:spPr>
        <p:txBody>
          <a:bodyPr>
            <a:normAutofit/>
          </a:bodyPr>
          <a:lstStyle/>
          <a:p>
            <a:pPr marL="0" indent="0" algn="just">
              <a:buNone/>
            </a:pPr>
            <a:r>
              <a:rPr lang="en-GB" sz="2400" dirty="0">
                <a:effectLst/>
                <a:ea typeface="Calibri" panose="020F0502020204030204" pitchFamily="34" charset="0"/>
                <a:cs typeface="Times New Roman" panose="02020603050405020304" pitchFamily="18" charset="0"/>
              </a:rPr>
              <a:t>The Complete University Guide (CUG) league table includes a unique feature that uses data from the Graduate Outcomes survey. This survey takes place </a:t>
            </a:r>
            <a:r>
              <a:rPr lang="en-GB" sz="2400" b="1" dirty="0">
                <a:solidFill>
                  <a:srgbClr val="C00000"/>
                </a:solidFill>
                <a:effectLst/>
                <a:ea typeface="Calibri" panose="020F0502020204030204" pitchFamily="34" charset="0"/>
                <a:cs typeface="Times New Roman" panose="02020603050405020304" pitchFamily="18" charset="0"/>
              </a:rPr>
              <a:t>fifteen months </a:t>
            </a:r>
            <a:r>
              <a:rPr lang="en-GB" sz="2400" dirty="0">
                <a:effectLst/>
                <a:ea typeface="Calibri" panose="020F0502020204030204" pitchFamily="34" charset="0"/>
                <a:cs typeface="Times New Roman" panose="02020603050405020304" pitchFamily="18" charset="0"/>
              </a:rPr>
              <a:t>after the graduation of students and assesses the extent to which students have taken a positive first step in the </a:t>
            </a:r>
            <a:r>
              <a:rPr lang="en-GB" sz="2400" b="1" dirty="0">
                <a:solidFill>
                  <a:srgbClr val="C00000"/>
                </a:solidFill>
                <a:effectLst/>
                <a:ea typeface="Calibri" panose="020F0502020204030204" pitchFamily="34" charset="0"/>
                <a:cs typeface="Times New Roman" panose="02020603050405020304" pitchFamily="18" charset="0"/>
              </a:rPr>
              <a:t>15 months after graduation</a:t>
            </a:r>
            <a:r>
              <a:rPr lang="en-GB" sz="2400" dirty="0">
                <a:effectLst/>
                <a:ea typeface="Calibri" panose="020F0502020204030204" pitchFamily="34" charset="0"/>
                <a:cs typeface="Times New Roman" panose="02020603050405020304" pitchFamily="18" charset="0"/>
              </a:rPr>
              <a:t>.</a:t>
            </a:r>
            <a:endParaRPr lang="en-GB" sz="2400" dirty="0"/>
          </a:p>
        </p:txBody>
      </p:sp>
      <p:pic>
        <p:nvPicPr>
          <p:cNvPr id="4" name="Picture 3" descr="A picture containing text, font, logo, symbol">
            <a:extLst>
              <a:ext uri="{FF2B5EF4-FFF2-40B4-BE49-F238E27FC236}">
                <a16:creationId xmlns:a16="http://schemas.microsoft.com/office/drawing/2014/main" id="{CEEEBE03-BDF7-BBFC-D574-FBA6DCBBB466}"/>
              </a:ext>
            </a:extLst>
          </p:cNvPr>
          <p:cNvPicPr>
            <a:picLocks noChangeAspect="1"/>
          </p:cNvPicPr>
          <p:nvPr/>
        </p:nvPicPr>
        <p:blipFill rotWithShape="1">
          <a:blip r:embed="rId2">
            <a:extLst>
              <a:ext uri="{28A0092B-C50C-407E-A947-70E740481C1C}">
                <a14:useLocalDpi xmlns:a14="http://schemas.microsoft.com/office/drawing/2010/main" val="0"/>
              </a:ext>
            </a:extLst>
          </a:blip>
          <a:srcRect t="24934" b="11812"/>
          <a:stretch/>
        </p:blipFill>
        <p:spPr>
          <a:xfrm>
            <a:off x="168165" y="176957"/>
            <a:ext cx="2688776" cy="935419"/>
          </a:xfrm>
          <a:prstGeom prst="rect">
            <a:avLst/>
          </a:prstGeom>
        </p:spPr>
      </p:pic>
    </p:spTree>
    <p:extLst>
      <p:ext uri="{BB962C8B-B14F-4D97-AF65-F5344CB8AC3E}">
        <p14:creationId xmlns:p14="http://schemas.microsoft.com/office/powerpoint/2010/main" val="1860921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4E9EE-5D2A-4C8D-CB9B-AC9EC7A42C24}"/>
              </a:ext>
            </a:extLst>
          </p:cNvPr>
          <p:cNvSpPr>
            <a:spLocks noGrp="1"/>
          </p:cNvSpPr>
          <p:nvPr>
            <p:ph type="title"/>
          </p:nvPr>
        </p:nvSpPr>
        <p:spPr>
          <a:xfrm>
            <a:off x="704850" y="1112376"/>
            <a:ext cx="6337081" cy="744757"/>
          </a:xfrm>
        </p:spPr>
        <p:txBody>
          <a:bodyPr>
            <a:normAutofit/>
          </a:bodyPr>
          <a:lstStyle/>
          <a:p>
            <a:r>
              <a:rPr lang="en-GB" sz="4000" b="1" dirty="0">
                <a:latin typeface="+mn-lt"/>
              </a:rPr>
              <a:t>Conclusion</a:t>
            </a:r>
          </a:p>
        </p:txBody>
      </p:sp>
      <p:sp>
        <p:nvSpPr>
          <p:cNvPr id="3" name="Content Placeholder 2">
            <a:extLst>
              <a:ext uri="{FF2B5EF4-FFF2-40B4-BE49-F238E27FC236}">
                <a16:creationId xmlns:a16="http://schemas.microsoft.com/office/drawing/2014/main" id="{CF00F3F4-DDAD-B560-5E7A-17618E53AE52}"/>
              </a:ext>
            </a:extLst>
          </p:cNvPr>
          <p:cNvSpPr>
            <a:spLocks noGrp="1"/>
          </p:cNvSpPr>
          <p:nvPr>
            <p:ph idx="1"/>
          </p:nvPr>
        </p:nvSpPr>
        <p:spPr>
          <a:xfrm>
            <a:off x="704850" y="1857133"/>
            <a:ext cx="11125200" cy="4823910"/>
          </a:xfrm>
        </p:spPr>
        <p:txBody>
          <a:bodyPr>
            <a:noAutofit/>
          </a:bodyPr>
          <a:lstStyle/>
          <a:p>
            <a:pPr marL="0" indent="0">
              <a:buNone/>
            </a:pPr>
            <a:r>
              <a:rPr lang="en-GB" sz="2400" dirty="0">
                <a:effectLst/>
                <a:ea typeface="Calibri" panose="020F0502020204030204" pitchFamily="34" charset="0"/>
                <a:cs typeface="Calibri" panose="020F0502020204030204" pitchFamily="34" charset="0"/>
              </a:rPr>
              <a:t>To further analyse university performance, we can consider measures such as </a:t>
            </a:r>
            <a:br>
              <a:rPr lang="en-GB" sz="2400" dirty="0">
                <a:effectLst/>
                <a:ea typeface="Calibri" panose="020F0502020204030204" pitchFamily="34" charset="0"/>
                <a:cs typeface="Calibri" panose="020F0502020204030204" pitchFamily="34" charset="0"/>
              </a:rPr>
            </a:br>
            <a:br>
              <a:rPr lang="en-GB" sz="2400" dirty="0">
                <a:effectLst/>
                <a:ea typeface="Calibri" panose="020F0502020204030204" pitchFamily="34" charset="0"/>
                <a:cs typeface="Calibri" panose="020F0502020204030204" pitchFamily="34" charset="0"/>
              </a:rPr>
            </a:br>
            <a:r>
              <a:rPr lang="en-GB" sz="2400" b="1" dirty="0">
                <a:solidFill>
                  <a:srgbClr val="C00000"/>
                </a:solidFill>
                <a:effectLst/>
                <a:ea typeface="Calibri" panose="020F0502020204030204" pitchFamily="34" charset="0"/>
                <a:cs typeface="Calibri" panose="020F0502020204030204" pitchFamily="34" charset="0"/>
              </a:rPr>
              <a:t>Student engagement</a:t>
            </a:r>
            <a:br>
              <a:rPr lang="en-GB" sz="2400" b="1" dirty="0">
                <a:solidFill>
                  <a:srgbClr val="C00000"/>
                </a:solidFill>
                <a:effectLst/>
                <a:ea typeface="Calibri" panose="020F0502020204030204" pitchFamily="34" charset="0"/>
                <a:cs typeface="Calibri" panose="020F0502020204030204" pitchFamily="34" charset="0"/>
              </a:rPr>
            </a:br>
            <a:r>
              <a:rPr lang="en-GB" sz="2400" b="1" dirty="0">
                <a:solidFill>
                  <a:srgbClr val="C00000"/>
                </a:solidFill>
                <a:effectLst/>
                <a:ea typeface="Calibri" panose="020F0502020204030204" pitchFamily="34" charset="0"/>
                <a:cs typeface="Calibri" panose="020F0502020204030204" pitchFamily="34" charset="0"/>
              </a:rPr>
              <a:t>Diversity and inclusion</a:t>
            </a:r>
            <a:br>
              <a:rPr lang="en-GB" sz="2400" b="1" dirty="0">
                <a:solidFill>
                  <a:srgbClr val="C00000"/>
                </a:solidFill>
                <a:ea typeface="Calibri" panose="020F0502020204030204" pitchFamily="34" charset="0"/>
                <a:cs typeface="Calibri" panose="020F0502020204030204" pitchFamily="34" charset="0"/>
              </a:rPr>
            </a:br>
            <a:r>
              <a:rPr lang="en-GB" sz="2400" b="1" dirty="0">
                <a:solidFill>
                  <a:srgbClr val="C00000"/>
                </a:solidFill>
                <a:ea typeface="Calibri" panose="020F0502020204030204" pitchFamily="34" charset="0"/>
                <a:cs typeface="Calibri" panose="020F0502020204030204" pitchFamily="34" charset="0"/>
              </a:rPr>
              <a:t>S</a:t>
            </a:r>
            <a:r>
              <a:rPr lang="en-GB" sz="2400" b="1" dirty="0">
                <a:solidFill>
                  <a:srgbClr val="C00000"/>
                </a:solidFill>
                <a:effectLst/>
                <a:ea typeface="Calibri" panose="020F0502020204030204" pitchFamily="34" charset="0"/>
                <a:cs typeface="Calibri" panose="020F0502020204030204" pitchFamily="34" charset="0"/>
              </a:rPr>
              <a:t>ocial mobility</a:t>
            </a:r>
            <a:br>
              <a:rPr lang="en-GB" sz="2400" b="1" dirty="0">
                <a:solidFill>
                  <a:srgbClr val="C00000"/>
                </a:solidFill>
                <a:effectLst/>
                <a:ea typeface="Calibri" panose="020F0502020204030204" pitchFamily="34" charset="0"/>
                <a:cs typeface="Calibri" panose="020F0502020204030204" pitchFamily="34" charset="0"/>
              </a:rPr>
            </a:br>
            <a:r>
              <a:rPr lang="en-GB" sz="2400" b="1" dirty="0">
                <a:solidFill>
                  <a:srgbClr val="C00000"/>
                </a:solidFill>
                <a:ea typeface="Calibri" panose="020F0502020204030204" pitchFamily="34" charset="0"/>
                <a:cs typeface="Calibri" panose="020F0502020204030204" pitchFamily="34" charset="0"/>
              </a:rPr>
              <a:t>C</a:t>
            </a:r>
            <a:r>
              <a:rPr lang="en-GB" sz="2400" b="1" dirty="0">
                <a:solidFill>
                  <a:srgbClr val="C00000"/>
                </a:solidFill>
                <a:effectLst/>
                <a:ea typeface="Calibri" panose="020F0502020204030204" pitchFamily="34" charset="0"/>
                <a:cs typeface="Calibri" panose="020F0502020204030204" pitchFamily="34" charset="0"/>
              </a:rPr>
              <a:t>ommunity engagement and impact</a:t>
            </a:r>
            <a:br>
              <a:rPr lang="en-GB" sz="2400" b="1" dirty="0">
                <a:solidFill>
                  <a:srgbClr val="C00000"/>
                </a:solidFill>
                <a:ea typeface="Calibri" panose="020F0502020204030204" pitchFamily="34" charset="0"/>
                <a:cs typeface="Calibri" panose="020F0502020204030204" pitchFamily="34" charset="0"/>
              </a:rPr>
            </a:br>
            <a:r>
              <a:rPr lang="en-GB" sz="2400" b="1" dirty="0">
                <a:solidFill>
                  <a:srgbClr val="C00000"/>
                </a:solidFill>
                <a:ea typeface="Calibri" panose="020F0502020204030204" pitchFamily="34" charset="0"/>
                <a:cs typeface="Calibri" panose="020F0502020204030204" pitchFamily="34" charset="0"/>
              </a:rPr>
              <a:t>I</a:t>
            </a:r>
            <a:r>
              <a:rPr lang="en-GB" sz="2400" b="1" dirty="0">
                <a:solidFill>
                  <a:srgbClr val="C00000"/>
                </a:solidFill>
                <a:effectLst/>
                <a:ea typeface="Calibri" panose="020F0502020204030204" pitchFamily="34" charset="0"/>
                <a:cs typeface="Calibri" panose="020F0502020204030204" pitchFamily="34" charset="0"/>
              </a:rPr>
              <a:t>nternationalization</a:t>
            </a:r>
            <a:br>
              <a:rPr lang="en-GB" sz="2400" b="1" dirty="0">
                <a:solidFill>
                  <a:srgbClr val="C00000"/>
                </a:solidFill>
                <a:effectLst/>
                <a:ea typeface="Calibri" panose="020F0502020204030204" pitchFamily="34" charset="0"/>
                <a:cs typeface="Calibri" panose="020F0502020204030204" pitchFamily="34" charset="0"/>
              </a:rPr>
            </a:br>
            <a:r>
              <a:rPr lang="en-GB" sz="2400" b="1" dirty="0">
                <a:solidFill>
                  <a:srgbClr val="C00000"/>
                </a:solidFill>
                <a:ea typeface="Calibri" panose="020F0502020204030204" pitchFamily="34" charset="0"/>
                <a:cs typeface="Calibri" panose="020F0502020204030204" pitchFamily="34" charset="0"/>
              </a:rPr>
              <a:t>S</a:t>
            </a:r>
            <a:r>
              <a:rPr lang="en-GB" sz="2400" b="1" dirty="0">
                <a:solidFill>
                  <a:srgbClr val="C00000"/>
                </a:solidFill>
                <a:effectLst/>
                <a:ea typeface="Calibri" panose="020F0502020204030204" pitchFamily="34" charset="0"/>
                <a:cs typeface="Calibri" panose="020F0502020204030204" pitchFamily="34" charset="0"/>
              </a:rPr>
              <a:t>ustainability.</a:t>
            </a:r>
            <a:br>
              <a:rPr lang="en-GB" sz="2400" b="1" dirty="0">
                <a:effectLst/>
                <a:ea typeface="Calibri" panose="020F0502020204030204" pitchFamily="34" charset="0"/>
                <a:cs typeface="Calibri" panose="020F0502020204030204" pitchFamily="34" charset="0"/>
              </a:rPr>
            </a:br>
            <a:br>
              <a:rPr lang="en-GB" sz="2400" dirty="0">
                <a:effectLst/>
                <a:ea typeface="Calibri" panose="020F0502020204030204" pitchFamily="34" charset="0"/>
                <a:cs typeface="Calibri" panose="020F0502020204030204" pitchFamily="34" charset="0"/>
              </a:rPr>
            </a:br>
            <a:r>
              <a:rPr lang="en-GB" sz="2400" dirty="0">
                <a:effectLst/>
                <a:ea typeface="Calibri" panose="020F0502020204030204" pitchFamily="34" charset="0"/>
                <a:cs typeface="Calibri" panose="020F0502020204030204" pitchFamily="34" charset="0"/>
              </a:rPr>
              <a:t>Data can be sourced from surveys and reports published by universities or independent organizations such as </a:t>
            </a:r>
            <a:r>
              <a:rPr lang="en-GB" sz="2400" b="1" dirty="0">
                <a:solidFill>
                  <a:srgbClr val="C00000"/>
                </a:solidFill>
                <a:effectLst/>
                <a:ea typeface="Calibri" panose="020F0502020204030204" pitchFamily="34" charset="0"/>
                <a:cs typeface="Calibri" panose="020F0502020204030204" pitchFamily="34" charset="0"/>
              </a:rPr>
              <a:t>HESA(Higher Education Statistics Agency)</a:t>
            </a:r>
            <a:r>
              <a:rPr lang="en-GB" sz="2400" b="1" dirty="0">
                <a:effectLst/>
                <a:ea typeface="Calibri" panose="020F0502020204030204" pitchFamily="34" charset="0"/>
                <a:cs typeface="Calibri" panose="020F0502020204030204" pitchFamily="34" charset="0"/>
              </a:rPr>
              <a:t>. HESA</a:t>
            </a:r>
            <a:r>
              <a:rPr lang="en-GB" sz="2400" dirty="0">
                <a:effectLst/>
                <a:ea typeface="Calibri" panose="020F0502020204030204" pitchFamily="34" charset="0"/>
                <a:cs typeface="Calibri" panose="020F0502020204030204" pitchFamily="34" charset="0"/>
              </a:rPr>
              <a:t> publishes data on all aspects of the UK higher education sector. For a tailored dataset, we can contact HESA's expert data analysts or submit their data request form to finalize our data requirements.</a:t>
            </a:r>
            <a:br>
              <a:rPr lang="en-GB" sz="2400" dirty="0">
                <a:effectLst/>
                <a:ea typeface="Calibri" panose="020F0502020204030204" pitchFamily="34" charset="0"/>
                <a:cs typeface="Calibri" panose="020F0502020204030204" pitchFamily="34" charset="0"/>
              </a:rPr>
            </a:br>
            <a:endParaRPr lang="en-GB" sz="2400" dirty="0">
              <a:cs typeface="Calibri" panose="020F0502020204030204" pitchFamily="34" charset="0"/>
            </a:endParaRPr>
          </a:p>
        </p:txBody>
      </p:sp>
      <p:pic>
        <p:nvPicPr>
          <p:cNvPr id="4" name="Picture 3" descr="A picture containing text, font, logo, symbol">
            <a:extLst>
              <a:ext uri="{FF2B5EF4-FFF2-40B4-BE49-F238E27FC236}">
                <a16:creationId xmlns:a16="http://schemas.microsoft.com/office/drawing/2014/main" id="{0A3FADD5-341E-3FF4-A90C-50A5E50EC673}"/>
              </a:ext>
            </a:extLst>
          </p:cNvPr>
          <p:cNvPicPr>
            <a:picLocks noChangeAspect="1"/>
          </p:cNvPicPr>
          <p:nvPr/>
        </p:nvPicPr>
        <p:blipFill rotWithShape="1">
          <a:blip r:embed="rId2">
            <a:extLst>
              <a:ext uri="{28A0092B-C50C-407E-A947-70E740481C1C}">
                <a14:useLocalDpi xmlns:a14="http://schemas.microsoft.com/office/drawing/2010/main" val="0"/>
              </a:ext>
            </a:extLst>
          </a:blip>
          <a:srcRect t="24934" b="11812"/>
          <a:stretch/>
        </p:blipFill>
        <p:spPr>
          <a:xfrm>
            <a:off x="168165" y="176957"/>
            <a:ext cx="2688776" cy="935419"/>
          </a:xfrm>
          <a:prstGeom prst="rect">
            <a:avLst/>
          </a:prstGeom>
        </p:spPr>
      </p:pic>
    </p:spTree>
    <p:extLst>
      <p:ext uri="{BB962C8B-B14F-4D97-AF65-F5344CB8AC3E}">
        <p14:creationId xmlns:p14="http://schemas.microsoft.com/office/powerpoint/2010/main" val="3443119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EB234-7CCD-601F-21C8-1757E19DA702}"/>
              </a:ext>
            </a:extLst>
          </p:cNvPr>
          <p:cNvSpPr>
            <a:spLocks noGrp="1"/>
          </p:cNvSpPr>
          <p:nvPr>
            <p:ph type="title"/>
          </p:nvPr>
        </p:nvSpPr>
        <p:spPr>
          <a:xfrm>
            <a:off x="168165" y="1009650"/>
            <a:ext cx="3384660" cy="765192"/>
          </a:xfrm>
        </p:spPr>
        <p:txBody>
          <a:bodyPr>
            <a:normAutofit fontScale="90000"/>
          </a:bodyPr>
          <a:lstStyle/>
          <a:p>
            <a:r>
              <a:rPr lang="en-GB" sz="3600" b="1" dirty="0">
                <a:latin typeface="+mn-lt"/>
              </a:rPr>
              <a:t>Recommendation</a:t>
            </a:r>
          </a:p>
        </p:txBody>
      </p:sp>
      <p:sp>
        <p:nvSpPr>
          <p:cNvPr id="3" name="Content Placeholder 2">
            <a:extLst>
              <a:ext uri="{FF2B5EF4-FFF2-40B4-BE49-F238E27FC236}">
                <a16:creationId xmlns:a16="http://schemas.microsoft.com/office/drawing/2014/main" id="{2BF5F129-D8A6-EB9C-7077-F84ECF9D7CDF}"/>
              </a:ext>
            </a:extLst>
          </p:cNvPr>
          <p:cNvSpPr>
            <a:spLocks noGrp="1"/>
          </p:cNvSpPr>
          <p:nvPr>
            <p:ph idx="1"/>
          </p:nvPr>
        </p:nvSpPr>
        <p:spPr>
          <a:xfrm>
            <a:off x="168165" y="1597572"/>
            <a:ext cx="11275142" cy="5782044"/>
          </a:xfrm>
        </p:spPr>
        <p:txBody>
          <a:bodyPr>
            <a:normAutofit/>
          </a:bodyPr>
          <a:lstStyle/>
          <a:p>
            <a:pPr marL="0" indent="0" algn="just">
              <a:buNone/>
            </a:pPr>
            <a:r>
              <a:rPr lang="en-GB" sz="1800" dirty="0"/>
              <a:t>Here are some actionable ideas that Newman University could employ to improve position on the university league table by the end of the academic year 2023/2024</a:t>
            </a:r>
          </a:p>
          <a:p>
            <a:pPr marL="0" indent="0" algn="just">
              <a:buNone/>
            </a:pPr>
            <a:r>
              <a:rPr lang="en-GB" sz="1800" dirty="0"/>
              <a:t>1. </a:t>
            </a:r>
            <a:r>
              <a:rPr lang="en-GB" sz="1800" b="1" dirty="0">
                <a:solidFill>
                  <a:srgbClr val="C00000"/>
                </a:solidFill>
              </a:rPr>
              <a:t>Improve research quality and intensity</a:t>
            </a:r>
            <a:r>
              <a:rPr lang="en-GB" sz="1800" dirty="0"/>
              <a:t>: Newman University can invest in research by providing funding and resources to support research projects and collaborations. We could also recruit and retain high-quality research staff and provide opportunities for professional development.</a:t>
            </a:r>
          </a:p>
          <a:p>
            <a:pPr algn="just"/>
            <a:endParaRPr lang="en-GB" sz="1800" dirty="0"/>
          </a:p>
          <a:p>
            <a:pPr marL="0" indent="0" algn="just">
              <a:buNone/>
            </a:pPr>
            <a:r>
              <a:rPr lang="en-GB" sz="1800" dirty="0"/>
              <a:t>2. </a:t>
            </a:r>
            <a:r>
              <a:rPr lang="en-GB" sz="1800" b="1" dirty="0">
                <a:solidFill>
                  <a:srgbClr val="C00000"/>
                </a:solidFill>
              </a:rPr>
              <a:t>Enhance graduate prospects</a:t>
            </a:r>
            <a:r>
              <a:rPr lang="en-GB" sz="1800" dirty="0"/>
              <a:t>: Newman University could work on improving the employability of their graduates by providing career services, internships, and networking opportunities. We could also develop partnerships with employers to create job opportunities for their graduates.</a:t>
            </a:r>
          </a:p>
          <a:p>
            <a:pPr algn="just"/>
            <a:endParaRPr lang="en-GB" sz="1800" dirty="0"/>
          </a:p>
          <a:p>
            <a:pPr marL="0" indent="0" algn="just">
              <a:buNone/>
            </a:pPr>
            <a:r>
              <a:rPr lang="en-GB" sz="1800" dirty="0"/>
              <a:t>3. </a:t>
            </a:r>
            <a:r>
              <a:rPr lang="en-GB" sz="1800" b="1" dirty="0">
                <a:solidFill>
                  <a:srgbClr val="C00000"/>
                </a:solidFill>
              </a:rPr>
              <a:t>Reduce student-staff ratio</a:t>
            </a:r>
            <a:r>
              <a:rPr lang="en-GB" sz="1800" dirty="0"/>
              <a:t>: Newman University can hire more academic staff to reduce the student-staff ratio. This would improve the quality of education by allowing for more individual attention and support for students.</a:t>
            </a:r>
          </a:p>
          <a:p>
            <a:pPr algn="just"/>
            <a:endParaRPr lang="en-GB" sz="1800" dirty="0"/>
          </a:p>
          <a:p>
            <a:pPr marL="0" indent="0" algn="just">
              <a:buNone/>
            </a:pPr>
            <a:r>
              <a:rPr lang="en-GB" sz="1800" dirty="0"/>
              <a:t>4. </a:t>
            </a:r>
            <a:r>
              <a:rPr lang="en-GB" sz="1800" b="1" dirty="0">
                <a:solidFill>
                  <a:srgbClr val="C00000"/>
                </a:solidFill>
              </a:rPr>
              <a:t>Increase spending on academic services and student facilities</a:t>
            </a:r>
            <a:r>
              <a:rPr lang="en-GB" sz="1800" dirty="0"/>
              <a:t>: Newman University can invest in improving  academic services and student facilities by upgrading  infrastructure, technology, and equipment. This would enhance the learning experience for students and improve their satisfaction.</a:t>
            </a:r>
          </a:p>
        </p:txBody>
      </p:sp>
      <p:pic>
        <p:nvPicPr>
          <p:cNvPr id="4" name="Picture 3" descr="A picture containing text, font, logo, symbol">
            <a:extLst>
              <a:ext uri="{FF2B5EF4-FFF2-40B4-BE49-F238E27FC236}">
                <a16:creationId xmlns:a16="http://schemas.microsoft.com/office/drawing/2014/main" id="{6C0FCD7A-A663-B94A-7429-0E0558B3C6B2}"/>
              </a:ext>
            </a:extLst>
          </p:cNvPr>
          <p:cNvPicPr>
            <a:picLocks noChangeAspect="1"/>
          </p:cNvPicPr>
          <p:nvPr/>
        </p:nvPicPr>
        <p:blipFill rotWithShape="1">
          <a:blip r:embed="rId2">
            <a:extLst>
              <a:ext uri="{28A0092B-C50C-407E-A947-70E740481C1C}">
                <a14:useLocalDpi xmlns:a14="http://schemas.microsoft.com/office/drawing/2010/main" val="0"/>
              </a:ext>
            </a:extLst>
          </a:blip>
          <a:srcRect t="24934" b="11812"/>
          <a:stretch/>
        </p:blipFill>
        <p:spPr>
          <a:xfrm>
            <a:off x="168165" y="176957"/>
            <a:ext cx="2688776" cy="935419"/>
          </a:xfrm>
          <a:prstGeom prst="rect">
            <a:avLst/>
          </a:prstGeom>
        </p:spPr>
      </p:pic>
    </p:spTree>
    <p:extLst>
      <p:ext uri="{BB962C8B-B14F-4D97-AF65-F5344CB8AC3E}">
        <p14:creationId xmlns:p14="http://schemas.microsoft.com/office/powerpoint/2010/main" val="1535124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BBE4EC-2756-F30E-EA19-00B05E8DF24D}"/>
              </a:ext>
            </a:extLst>
          </p:cNvPr>
          <p:cNvSpPr>
            <a:spLocks noGrp="1"/>
          </p:cNvSpPr>
          <p:nvPr>
            <p:ph idx="1"/>
          </p:nvPr>
        </p:nvSpPr>
        <p:spPr/>
        <p:txBody>
          <a:bodyPr>
            <a:normAutofit/>
          </a:bodyPr>
          <a:lstStyle/>
          <a:p>
            <a:pPr marL="0" indent="0" algn="ctr">
              <a:buNone/>
            </a:pPr>
            <a:endParaRPr lang="en-GB" sz="4800" b="1" dirty="0"/>
          </a:p>
          <a:p>
            <a:pPr marL="0" indent="0" algn="ctr">
              <a:buNone/>
            </a:pPr>
            <a:endParaRPr lang="en-GB" sz="4800" b="1" dirty="0"/>
          </a:p>
          <a:p>
            <a:pPr marL="0" indent="0" algn="ctr">
              <a:buNone/>
            </a:pPr>
            <a:r>
              <a:rPr lang="en-GB" sz="4800" b="1" dirty="0"/>
              <a:t>Thank you </a:t>
            </a:r>
          </a:p>
        </p:txBody>
      </p:sp>
    </p:spTree>
    <p:extLst>
      <p:ext uri="{BB962C8B-B14F-4D97-AF65-F5344CB8AC3E}">
        <p14:creationId xmlns:p14="http://schemas.microsoft.com/office/powerpoint/2010/main" val="2460685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3307</TotalTime>
  <Words>812</Words>
  <Application>Microsoft Office PowerPoint</Application>
  <PresentationFormat>Widescreen</PresentationFormat>
  <Paragraphs>44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Abadi</vt:lpstr>
      <vt:lpstr>Arial</vt:lpstr>
      <vt:lpstr>Calibri</vt:lpstr>
      <vt:lpstr>Calibri Light</vt:lpstr>
      <vt:lpstr>Humnst777 BlkCn BT</vt:lpstr>
      <vt:lpstr>Office Theme</vt:lpstr>
      <vt:lpstr>Insight report on Newman University’s position in the Complete University Guide and the metrics involved.</vt:lpstr>
      <vt:lpstr>PowerPoint Presentation</vt:lpstr>
      <vt:lpstr>SMART Objective</vt:lpstr>
      <vt:lpstr>Data Cleaning and Data Preparation (Using Python)</vt:lpstr>
      <vt:lpstr>Data Insight</vt:lpstr>
      <vt:lpstr>Who are our Competitors?</vt:lpstr>
      <vt:lpstr>PowerPoint Presentation</vt:lpstr>
      <vt:lpstr>PowerPoint Presentation</vt:lpstr>
      <vt:lpstr>PowerPoint Presentation</vt:lpstr>
      <vt:lpstr>PowerPoint Presentation</vt:lpstr>
      <vt:lpstr>PowerPoint Presentation</vt:lpstr>
      <vt:lpstr>DASHBOARD – Courses and Subjects</vt:lpstr>
      <vt:lpstr>What metrics does Newman do well in and what metrics not so well in?</vt:lpstr>
      <vt:lpstr>What unique feature is included in the CUG league table as asked in the Graduate Outcomes survey? </vt:lpstr>
      <vt:lpstr>Conclusion</vt:lpstr>
      <vt:lpstr>Recommendation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Newman University Position Review.</dc:title>
  <dc:creator>Aduragbemi Ayeni</dc:creator>
  <cp:lastModifiedBy>Aduragbemi Ayeni</cp:lastModifiedBy>
  <cp:revision>12</cp:revision>
  <dcterms:created xsi:type="dcterms:W3CDTF">2023-06-02T10:05:57Z</dcterms:created>
  <dcterms:modified xsi:type="dcterms:W3CDTF">2023-06-06T09:09:05Z</dcterms:modified>
</cp:coreProperties>
</file>